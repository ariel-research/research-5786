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8" r:id="rId2"/>
    <p:sldId id="274" r:id="rId3"/>
  </p:sldIdLst>
  <p:sldSz cx="18288000" cy="10287000"/>
  <p:notesSz cx="6858000" cy="9144000"/>
  <p:embeddedFontLst>
    <p:embeddedFont>
      <p:font typeface="Haim" panose="020B0604020202020204" charset="-79"/>
      <p:regular r:id="rId5"/>
    </p:embeddedFont>
    <p:embeddedFont>
      <p:font typeface="TT Lakes Neue Expanded Bold" panose="020B0604020202020204" charset="0"/>
      <p:regular r:id="rId6"/>
    </p:embeddedFont>
  </p:embeddedFontLst>
  <p:custShowLst>
    <p:custShow name="Title of Lecture 2" id="0">
      <p:sldLst/>
    </p:custShow>
  </p:custShow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5" autoAdjust="0"/>
    <p:restoredTop sz="85005" autoAdjust="0"/>
  </p:normalViewPr>
  <p:slideViewPr>
    <p:cSldViewPr>
      <p:cViewPr varScale="1">
        <p:scale>
          <a:sx n="94" d="100"/>
          <a:sy n="94" d="100"/>
        </p:scale>
        <p:origin x="312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5" Type="http://schemas.openxmlformats.org/officeDocument/2006/relationships/font" Target="fonts/font1.fntdata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792BC0D5-0843-46CE-B4B3-FDD7262E77E3}" type="datetimeFigureOut">
              <a:rPr lang="he-IL" smtClean="0"/>
              <a:t>כ"ב/ניסן/תשפ"ו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DAB58470-0623-4BFC-ADE1-E202593B04C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97241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:notes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>
                <a:latin typeface="Calibri" panose="020F0502020204030204" pitchFamily="34" charset="0"/>
                <a:cs typeface="Calibri" panose="020F0502020204030204" pitchFamily="34" charset="0"/>
              </a:rPr>
              <a:t>2</a:t>
            </a:fld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639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771865" y="-485270"/>
            <a:ext cx="11706247" cy="11706247"/>
          </a:xfrm>
          <a:custGeom>
            <a:avLst/>
            <a:gdLst/>
            <a:ahLst/>
            <a:cxnLst/>
            <a:rect l="l" t="t" r="r" b="b"/>
            <a:pathLst>
              <a:path w="11706247" h="11706247">
                <a:moveTo>
                  <a:pt x="0" y="0"/>
                </a:moveTo>
                <a:lnTo>
                  <a:pt x="11706247" y="0"/>
                </a:lnTo>
                <a:lnTo>
                  <a:pt x="11706247" y="11706247"/>
                </a:lnTo>
                <a:lnTo>
                  <a:pt x="0" y="117062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Freeform 3"/>
          <p:cNvSpPr/>
          <p:nvPr/>
        </p:nvSpPr>
        <p:spPr>
          <a:xfrm>
            <a:off x="11488273" y="-1977661"/>
            <a:ext cx="6994113" cy="8229600"/>
          </a:xfrm>
          <a:custGeom>
            <a:avLst/>
            <a:gdLst/>
            <a:ahLst/>
            <a:cxnLst/>
            <a:rect l="l" t="t" r="r" b="b"/>
            <a:pathLst>
              <a:path w="6994113" h="8229600">
                <a:moveTo>
                  <a:pt x="0" y="0"/>
                </a:moveTo>
                <a:lnTo>
                  <a:pt x="6994113" y="0"/>
                </a:lnTo>
                <a:lnTo>
                  <a:pt x="699411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4" name="Freeform 4"/>
          <p:cNvSpPr/>
          <p:nvPr/>
        </p:nvSpPr>
        <p:spPr>
          <a:xfrm>
            <a:off x="-5130555" y="1028700"/>
            <a:ext cx="6994113" cy="8229600"/>
          </a:xfrm>
          <a:custGeom>
            <a:avLst/>
            <a:gdLst/>
            <a:ahLst/>
            <a:cxnLst/>
            <a:rect l="l" t="t" r="r" b="b"/>
            <a:pathLst>
              <a:path w="6994113" h="8229600">
                <a:moveTo>
                  <a:pt x="0" y="0"/>
                </a:moveTo>
                <a:lnTo>
                  <a:pt x="6994113" y="0"/>
                </a:lnTo>
                <a:lnTo>
                  <a:pt x="699411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5" name="Freeform 5"/>
          <p:cNvSpPr/>
          <p:nvPr/>
        </p:nvSpPr>
        <p:spPr>
          <a:xfrm>
            <a:off x="1028700" y="1600418"/>
            <a:ext cx="16514364" cy="7086163"/>
          </a:xfrm>
          <a:custGeom>
            <a:avLst/>
            <a:gdLst/>
            <a:ahLst/>
            <a:cxnLst/>
            <a:rect l="l" t="t" r="r" b="b"/>
            <a:pathLst>
              <a:path w="16514364" h="7086163">
                <a:moveTo>
                  <a:pt x="0" y="0"/>
                </a:moveTo>
                <a:lnTo>
                  <a:pt x="16514364" y="0"/>
                </a:lnTo>
                <a:lnTo>
                  <a:pt x="16514364" y="7086164"/>
                </a:lnTo>
                <a:lnTo>
                  <a:pt x="0" y="70861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6" name="Group 6"/>
          <p:cNvGrpSpPr/>
          <p:nvPr/>
        </p:nvGrpSpPr>
        <p:grpSpPr>
          <a:xfrm>
            <a:off x="7600950" y="9365373"/>
            <a:ext cx="3086100" cy="308610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6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-1955380" y="-134402"/>
            <a:ext cx="4198317" cy="1339997"/>
          </a:xfrm>
          <a:custGeom>
            <a:avLst/>
            <a:gdLst/>
            <a:ahLst/>
            <a:cxnLst/>
            <a:rect l="l" t="t" r="r" b="b"/>
            <a:pathLst>
              <a:path w="4198317" h="1339997">
                <a:moveTo>
                  <a:pt x="0" y="0"/>
                </a:moveTo>
                <a:lnTo>
                  <a:pt x="4198317" y="0"/>
                </a:lnTo>
                <a:lnTo>
                  <a:pt x="4198317" y="1339996"/>
                </a:lnTo>
                <a:lnTo>
                  <a:pt x="0" y="13399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0" name="TextBox 10"/>
          <p:cNvSpPr txBox="1"/>
          <p:nvPr/>
        </p:nvSpPr>
        <p:spPr>
          <a:xfrm>
            <a:off x="1170631" y="3711164"/>
            <a:ext cx="16088669" cy="5232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8135"/>
              </a:lnSpc>
            </a:pPr>
            <a:endParaRPr lang="he-IL" sz="7748">
              <a:solidFill>
                <a:srgbClr val="FFFFFF"/>
              </a:solidFill>
              <a:latin typeface="Haim"/>
              <a:ea typeface="Haim"/>
              <a:cs typeface="Haim"/>
              <a:sym typeface="Haim"/>
              <a:rtl/>
            </a:endParaRPr>
          </a:p>
          <a:p>
            <a:pPr algn="ctr" rtl="1">
              <a:lnSpc>
                <a:spcPts val="8135"/>
              </a:lnSpc>
            </a:pPr>
            <a:endParaRPr lang="he-IL" sz="7748">
              <a:solidFill>
                <a:srgbClr val="FFFFFF"/>
              </a:solidFill>
              <a:latin typeface="Haim"/>
              <a:ea typeface="Haim"/>
              <a:cs typeface="Haim"/>
              <a:sym typeface="Haim"/>
              <a:rtl/>
            </a:endParaRPr>
          </a:p>
          <a:p>
            <a:pPr algn="ctr" rtl="1">
              <a:lnSpc>
                <a:spcPts val="8135"/>
              </a:lnSpc>
            </a:pPr>
            <a:r>
              <a:rPr lang="he-IL" sz="7748">
                <a:solidFill>
                  <a:srgbClr val="FFFFFF"/>
                </a:solidFill>
                <a:latin typeface="Haim"/>
                <a:ea typeface="Haim"/>
                <a:cs typeface="Haim"/>
                <a:sym typeface="Haim"/>
                <a:rtl/>
              </a:rPr>
              <a:t>מסדי נתונים בפייתון</a:t>
            </a:r>
          </a:p>
          <a:p>
            <a:pPr algn="ctr" rtl="1">
              <a:lnSpc>
                <a:spcPts val="8135"/>
              </a:lnSpc>
            </a:pPr>
            <a:endParaRPr lang="he-IL" sz="7748">
              <a:solidFill>
                <a:srgbClr val="FFFFFF"/>
              </a:solidFill>
              <a:latin typeface="Haim"/>
              <a:ea typeface="Haim"/>
              <a:cs typeface="Haim"/>
              <a:sym typeface="Haim"/>
              <a:rtl/>
            </a:endParaRPr>
          </a:p>
          <a:p>
            <a:pPr algn="ctr">
              <a:lnSpc>
                <a:spcPts val="8135"/>
              </a:lnSpc>
            </a:pPr>
            <a:endParaRPr lang="he-IL" sz="7748">
              <a:solidFill>
                <a:srgbClr val="FFFFFF"/>
              </a:solidFill>
              <a:latin typeface="Haim"/>
              <a:ea typeface="Haim"/>
              <a:cs typeface="Haim"/>
              <a:sym typeface="Haim"/>
              <a:rtl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245241" y="9751450"/>
            <a:ext cx="1684932" cy="233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sz="1739" b="1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1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E607F66E-C8C3-FFEC-9C26-B03F36120BCC}"/>
              </a:ext>
            </a:extLst>
          </p:cNvPr>
          <p:cNvSpPr txBox="1"/>
          <p:nvPr/>
        </p:nvSpPr>
        <p:spPr>
          <a:xfrm>
            <a:off x="1028700" y="469080"/>
            <a:ext cx="16514364" cy="10098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35"/>
              </a:lnSpc>
            </a:pPr>
            <a:r>
              <a:rPr lang="he-IL" sz="6000">
                <a:solidFill>
                  <a:srgbClr val="FFFFFF"/>
                </a:solidFill>
                <a:latin typeface="Haim"/>
                <a:ea typeface="Haim"/>
                <a:cs typeface="Haim"/>
                <a:sym typeface="Haim"/>
                <a:rtl/>
              </a:rPr>
              <a:t>תכנות אלגוריתמים מחקריים</a:t>
            </a:r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2BCFECAD-6922-04FB-4156-FDCDA18A316C}"/>
              </a:ext>
            </a:extLst>
          </p:cNvPr>
          <p:cNvSpPr txBox="1"/>
          <p:nvPr/>
        </p:nvSpPr>
        <p:spPr>
          <a:xfrm>
            <a:off x="1028700" y="7962900"/>
            <a:ext cx="16421099" cy="3731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624"/>
              </a:lnSpc>
              <a:spcBef>
                <a:spcPct val="0"/>
              </a:spcBef>
            </a:pPr>
            <a:r>
              <a:rPr lang="he-IL" sz="3200" u="none" strike="noStrike" dirty="0">
                <a:solidFill>
                  <a:srgbClr val="FFFFFF"/>
                </a:solidFill>
                <a:latin typeface="Haim"/>
                <a:ea typeface="Haim"/>
                <a:cs typeface="Haim"/>
                <a:sym typeface="Haim"/>
                <a:rtl/>
              </a:rPr>
              <a:t>פרופ' אראל </a:t>
            </a:r>
            <a:r>
              <a:rPr lang="he-IL" sz="3200" u="none" strike="noStrike">
                <a:solidFill>
                  <a:srgbClr val="FFFFFF"/>
                </a:solidFill>
                <a:latin typeface="Haim"/>
                <a:ea typeface="Haim"/>
                <a:cs typeface="Haim"/>
                <a:sym typeface="Haim"/>
                <a:rtl/>
              </a:rPr>
              <a:t>סגל הלוי - </a:t>
            </a:r>
            <a:r>
              <a:rPr lang="he-IL" sz="3200" u="none" strike="noStrike" dirty="0">
                <a:solidFill>
                  <a:srgbClr val="FFFFFF"/>
                </a:solidFill>
                <a:latin typeface="Haim"/>
                <a:ea typeface="Haim"/>
                <a:cs typeface="Haim"/>
                <a:sym typeface="Haim"/>
                <a:rtl/>
              </a:rPr>
              <a:t>המחלקה למדעי המחשב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/>
          <p:cNvSpPr txBox="1"/>
          <p:nvPr/>
        </p:nvSpPr>
        <p:spPr>
          <a:xfrm>
            <a:off x="3735141" y="571500"/>
            <a:ext cx="1081771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75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דגם עיצוב – </a:t>
            </a:r>
            <a:r>
              <a:rPr lang="en-US" sz="75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design pattern</a:t>
            </a:r>
            <a:endParaRPr sz="7500" b="1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166" name="Google Shape;166;p2" descr="מדיניות פרטיות - מערכת בגרויות אוניברסיטת אריאל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107143"/>
            <a:ext cx="1676400" cy="9287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6040E67-2F94-5DE1-DF28-8FBBF9EF8522}"/>
              </a:ext>
            </a:extLst>
          </p:cNvPr>
          <p:cNvCxnSpPr>
            <a:cxnSpLocks/>
          </p:cNvCxnSpPr>
          <p:nvPr/>
        </p:nvCxnSpPr>
        <p:spPr>
          <a:xfrm flipV="1">
            <a:off x="7772400" y="2247900"/>
            <a:ext cx="0" cy="6781800"/>
          </a:xfrm>
          <a:prstGeom prst="straightConnector1">
            <a:avLst/>
          </a:prstGeom>
          <a:ln w="6350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83399F4-2086-B82D-CF7A-C813B4F9333F}"/>
              </a:ext>
            </a:extLst>
          </p:cNvPr>
          <p:cNvSpPr txBox="1"/>
          <p:nvPr/>
        </p:nvSpPr>
        <p:spPr>
          <a:xfrm>
            <a:off x="6400800" y="9334500"/>
            <a:ext cx="2784737" cy="707886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4000">
                <a:solidFill>
                  <a:schemeClr val="accent2"/>
                </a:solidFill>
              </a:rPr>
              <a:t>רמת הפשטה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1FACDA-97BE-31D4-74D5-D809490E1E9D}"/>
              </a:ext>
            </a:extLst>
          </p:cNvPr>
          <p:cNvSpPr txBox="1"/>
          <p:nvPr/>
        </p:nvSpPr>
        <p:spPr>
          <a:xfrm>
            <a:off x="10820400" y="2857500"/>
            <a:ext cx="2438400" cy="7620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4400">
                <a:solidFill>
                  <a:srgbClr val="92D050"/>
                </a:solidFill>
              </a:rPr>
              <a:t>אלגוריתם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184211-4A71-4C66-1026-69D2F45DF708}"/>
              </a:ext>
            </a:extLst>
          </p:cNvPr>
          <p:cNvSpPr txBox="1"/>
          <p:nvPr/>
        </p:nvSpPr>
        <p:spPr>
          <a:xfrm>
            <a:off x="10591800" y="5295900"/>
            <a:ext cx="2971800" cy="76944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4400" b="1">
                <a:solidFill>
                  <a:srgbClr val="00B050"/>
                </a:solidFill>
              </a:rPr>
              <a:t>דגם עיצוב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158739-CA5E-F778-E4F8-2B6CDA5E6609}"/>
              </a:ext>
            </a:extLst>
          </p:cNvPr>
          <p:cNvSpPr txBox="1"/>
          <p:nvPr/>
        </p:nvSpPr>
        <p:spPr>
          <a:xfrm>
            <a:off x="12039600" y="7505700"/>
            <a:ext cx="990600" cy="7620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4400">
                <a:solidFill>
                  <a:srgbClr val="0070C0"/>
                </a:solidFill>
              </a:rPr>
              <a:t>קוד</a:t>
            </a:r>
          </a:p>
        </p:txBody>
      </p:sp>
    </p:spTree>
    <p:extLst>
      <p:ext uri="{BB962C8B-B14F-4D97-AF65-F5344CB8AC3E}">
        <p14:creationId xmlns:p14="http://schemas.microsoft.com/office/powerpoint/2010/main" val="2422355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5967</TotalTime>
  <Words>29</Words>
  <Application>Microsoft Office PowerPoint</Application>
  <PresentationFormat>Custom</PresentationFormat>
  <Paragraphs>12</Paragraphs>
  <Slides>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  <vt:variant>
        <vt:lpstr>Custom Shows</vt:lpstr>
      </vt:variant>
      <vt:variant>
        <vt:i4>1</vt:i4>
      </vt:variant>
    </vt:vector>
  </HeadingPairs>
  <TitlesOfParts>
    <vt:vector size="9" baseType="lpstr">
      <vt:lpstr>Calibri</vt:lpstr>
      <vt:lpstr>TT Lakes Neue Expanded Bold</vt:lpstr>
      <vt:lpstr>Arial</vt:lpstr>
      <vt:lpstr>Haim</vt:lpstr>
      <vt:lpstr>Aptos</vt:lpstr>
      <vt:lpstr>Office Theme</vt:lpstr>
      <vt:lpstr>PowerPoint Presentation</vt:lpstr>
      <vt:lpstr>PowerPoint Presentation</vt:lpstr>
      <vt:lpstr>Title of Lecture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אראל סגל - תכנות אלגוריתמים מחקריים</dc:title>
  <dc:creator>דוד</dc:creator>
  <cp:lastModifiedBy>דוד אראל סגל הלוי/David Erel Segal Halevi</cp:lastModifiedBy>
  <cp:revision>40</cp:revision>
  <dcterms:created xsi:type="dcterms:W3CDTF">2006-08-16T00:00:00Z</dcterms:created>
  <dcterms:modified xsi:type="dcterms:W3CDTF">2026-04-09T16:47:34Z</dcterms:modified>
  <dc:identifier>DAG3jFQFlbw</dc:identifier>
</cp:coreProperties>
</file>