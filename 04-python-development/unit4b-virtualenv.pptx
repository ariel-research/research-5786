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8" r:id="rId2"/>
    <p:sldId id="274" r:id="rId3"/>
    <p:sldId id="277" r:id="rId4"/>
    <p:sldId id="278" r:id="rId5"/>
  </p:sldIdLst>
  <p:sldSz cx="18288000" cy="10287000"/>
  <p:notesSz cx="6858000" cy="9144000"/>
  <p:embeddedFontLst>
    <p:embeddedFont>
      <p:font typeface="Haim" panose="020B0604020202020204" charset="-79"/>
      <p:regular r:id="rId7"/>
    </p:embeddedFont>
    <p:embeddedFont>
      <p:font typeface="TT Lakes Neue Expanded Bold" panose="020B0604020202020204" charset="0"/>
      <p:regular r:id="rId8"/>
    </p:embeddedFont>
  </p:embeddedFontLst>
  <p:custShowLst>
    <p:custShow name="Title of Lecture 2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5" autoAdjust="0"/>
    <p:restoredTop sz="85005" autoAdjust="0"/>
  </p:normalViewPr>
  <p:slideViewPr>
    <p:cSldViewPr>
      <p:cViewPr varScale="1">
        <p:scale>
          <a:sx n="61" d="100"/>
          <a:sy n="61" d="100"/>
        </p:scale>
        <p:origin x="126" y="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792BC0D5-0843-46CE-B4B3-FDD7262E77E3}" type="datetimeFigureOut">
              <a:rPr lang="he-IL" smtClean="0"/>
              <a:t>ז'/ניסן/תשפ"ו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DAB58470-0623-4BFC-ADE1-E202593B04C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724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39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4B30E7F0-21FA-4B3B-EC74-A1125DF01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9CDE7503-EEAD-B5B6-1C58-E554C6564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7A8A4B1E-BD1F-A8B3-54DB-0BC409643D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78568EC6-8BF0-826D-BDBA-DB344B8CFC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9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A00472C7-B2FD-0704-26F6-36C74ECD8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E68E2ADE-863A-8371-4A9A-D1EB24A090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281050DD-2850-6B64-349C-C08411FD51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8E19685E-A1DC-BC10-B05B-1F134F65C6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184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1865" y="-485270"/>
            <a:ext cx="11706247" cy="11706247"/>
          </a:xfrm>
          <a:custGeom>
            <a:avLst/>
            <a:gdLst/>
            <a:ahLst/>
            <a:cxnLst/>
            <a:rect l="l" t="t" r="r" b="b"/>
            <a:pathLst>
              <a:path w="11706247" h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488273" y="-1977661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-5130555" y="1028700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1028700" y="1600418"/>
            <a:ext cx="16514364" cy="7086163"/>
          </a:xfrm>
          <a:custGeom>
            <a:avLst/>
            <a:gdLst/>
            <a:ahLst/>
            <a:cxnLst/>
            <a:rect l="l" t="t" r="r" b="b"/>
            <a:pathLst>
              <a:path w="16514364" h="7086163">
                <a:moveTo>
                  <a:pt x="0" y="0"/>
                </a:moveTo>
                <a:lnTo>
                  <a:pt x="16514364" y="0"/>
                </a:lnTo>
                <a:lnTo>
                  <a:pt x="16514364" y="7086164"/>
                </a:lnTo>
                <a:lnTo>
                  <a:pt x="0" y="7086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6" name="Group 6"/>
          <p:cNvGrpSpPr/>
          <p:nvPr/>
        </p:nvGrpSpPr>
        <p:grpSpPr>
          <a:xfrm>
            <a:off x="7600950" y="9365373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955380" y="-134402"/>
            <a:ext cx="4198317" cy="1339997"/>
          </a:xfrm>
          <a:custGeom>
            <a:avLst/>
            <a:gdLst/>
            <a:ahLst/>
            <a:cxnLst/>
            <a:rect l="l" t="t" r="r" b="b"/>
            <a:pathLst>
              <a:path w="4198317" h="1339997">
                <a:moveTo>
                  <a:pt x="0" y="0"/>
                </a:moveTo>
                <a:lnTo>
                  <a:pt x="4198317" y="0"/>
                </a:lnTo>
                <a:lnTo>
                  <a:pt x="4198317" y="1339996"/>
                </a:lnTo>
                <a:lnTo>
                  <a:pt x="0" y="13399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TextBox 10"/>
          <p:cNvSpPr txBox="1"/>
          <p:nvPr/>
        </p:nvSpPr>
        <p:spPr>
          <a:xfrm>
            <a:off x="1170631" y="3711164"/>
            <a:ext cx="16088669" cy="5232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8135"/>
              </a:lnSpc>
            </a:pPr>
            <a:r>
              <a:rPr lang="he-IL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יחידה 4</a:t>
            </a:r>
            <a:endParaRPr lang="en-US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</a:endParaRP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 rtl="1">
              <a:lnSpc>
                <a:spcPts val="8135"/>
              </a:lnSpc>
            </a:pPr>
            <a:r>
              <a:rPr lang="he-IL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תהליך פיתוח בפייתון</a:t>
            </a: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45241" y="9751450"/>
            <a:ext cx="1684932" cy="23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739" b="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607F66E-C8C3-FFEC-9C26-B03F36120BCC}"/>
              </a:ext>
            </a:extLst>
          </p:cNvPr>
          <p:cNvSpPr txBox="1"/>
          <p:nvPr/>
        </p:nvSpPr>
        <p:spPr>
          <a:xfrm>
            <a:off x="1028700" y="469080"/>
            <a:ext cx="16514364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he-IL" sz="600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תכנות אלגוריתמים מחקריים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BCFECAD-6922-04FB-4156-FDCDA18A316C}"/>
              </a:ext>
            </a:extLst>
          </p:cNvPr>
          <p:cNvSpPr txBox="1"/>
          <p:nvPr/>
        </p:nvSpPr>
        <p:spPr>
          <a:xfrm>
            <a:off x="1028700" y="7962900"/>
            <a:ext cx="16421099" cy="373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24"/>
              </a:lnSpc>
              <a:spcBef>
                <a:spcPct val="0"/>
              </a:spcBef>
            </a:pP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פרופ' אראל </a:t>
            </a:r>
            <a:r>
              <a:rPr lang="he-IL" sz="3200" u="none" strike="noStrike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סגל הלוי - </a:t>
            </a: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המחלקה למדעי המחשב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למה צריך סביבה וירטואלית?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21B61C03-3DC4-5AD4-A107-9A18E7FFADF4}"/>
              </a:ext>
            </a:extLst>
          </p:cNvPr>
          <p:cNvSpPr txBox="1"/>
          <p:nvPr/>
        </p:nvSpPr>
        <p:spPr>
          <a:xfrm>
            <a:off x="1143000" y="2365746"/>
            <a:ext cx="16884805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רוב האלגוריתמים שנכתוב תלויים בספריות מסוימות (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numpy, scipy, cvxpy, network…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).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לפעמים דרושות דווקא גרסאות מסוימות של הספריות.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לפעמים אלגוריתמים שונים דורשים גרסאות לא-תואמות.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b="1" i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מסקנה</a:t>
            </a:r>
            <a:r>
              <a:rPr lang="he-IL" sz="6000" i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אי-אפשר להסתמך על הספריות המותקנות על המחשב שלנו (שעליו אנחנו מפתחים).</a:t>
            </a:r>
          </a:p>
        </p:txBody>
      </p:sp>
    </p:spTree>
    <p:extLst>
      <p:ext uri="{BB962C8B-B14F-4D97-AF65-F5344CB8AC3E}">
        <p14:creationId xmlns:p14="http://schemas.microsoft.com/office/powerpoint/2010/main" val="242235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51095B75-3A3F-9AF7-D1D0-450C0A9B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D5C6DA02-F016-3B50-AE07-442E585E616B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 rtl="1">
              <a:lnSpc>
                <a:spcPct val="140000"/>
              </a:lnSpc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למה צריך סביבה וירטואלית?</a:t>
            </a:r>
            <a:endParaRPr lang="he-IL" sz="7500" b="1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FE6815E8-D456-8D9F-F090-6D7693567F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DC5C152E-A19B-FCA9-7ECC-79342D515934}"/>
              </a:ext>
            </a:extLst>
          </p:cNvPr>
          <p:cNvSpPr txBox="1"/>
          <p:nvPr/>
        </p:nvSpPr>
        <p:spPr>
          <a:xfrm>
            <a:off x="1143000" y="2365746"/>
            <a:ext cx="16884805" cy="646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סביבה וירטואלית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מאפשרת לנו לבצע התקנה של פייתון ושל ספריות נוספות הדרושות לנו, באופן נפרד ומבודד מההתקנה הנמצאת על המחשב שלנו.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כך אפשר לבדוק לא רק את האלגוריתם, אלא את כל תהליך ההתקנה של הספריה שבה נמצא האלגוריתם.</a:t>
            </a:r>
          </a:p>
        </p:txBody>
      </p:sp>
    </p:spTree>
    <p:extLst>
      <p:ext uri="{BB962C8B-B14F-4D97-AF65-F5344CB8AC3E}">
        <p14:creationId xmlns:p14="http://schemas.microsoft.com/office/powerpoint/2010/main" val="850724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35A071F6-E9D9-454B-DD5F-EA36E326F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017A5617-643C-724B-C7C3-0D198E560D7A}"/>
              </a:ext>
            </a:extLst>
          </p:cNvPr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 rtl="1">
              <a:lnSpc>
                <a:spcPct val="140000"/>
              </a:lnSpc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איך יוצרים סביבה וירטואלית?</a:t>
            </a:r>
            <a:endParaRPr lang="he-IL" sz="7500" b="1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B00CB363-DAA4-BBD2-C0EE-32E6C38F25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18AE8FAF-E249-4ECD-0836-93DCED06CBED}"/>
              </a:ext>
            </a:extLst>
          </p:cNvPr>
          <p:cNvSpPr txBox="1"/>
          <p:nvPr/>
        </p:nvSpPr>
        <p:spPr>
          <a:xfrm>
            <a:off x="1069428" y="1943100"/>
            <a:ext cx="16884805" cy="769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טכנית, סביבה וירטואלית היא תיקיה על המחשב שלנו.</a:t>
            </a:r>
          </a:p>
          <a:p>
            <a:pPr marL="1143000" marR="0" lvl="0" indent="-1143000" algn="l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pip install virtualenv</a:t>
            </a:r>
          </a:p>
          <a:p>
            <a:pPr marL="1143000" lvl="0" indent="-1143000">
              <a:buFont typeface="+mj-lt"/>
              <a:buAutoNum type="arabicPeriod"/>
            </a:pPr>
            <a: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virtualenv .venv                   # creates the folder .venv</a:t>
            </a:r>
            <a:b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</a:br>
            <a: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virtualenv \Envs\myenv             # creates the folder C:\Envs\myenv</a:t>
            </a:r>
          </a:p>
          <a:p>
            <a:pPr marL="1143000" lvl="0" indent="-1143000">
              <a:buFont typeface="+mj-lt"/>
              <a:buAutoNum type="arabicPeriod"/>
            </a:pPr>
            <a: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.venv\Scripts\activate.ps1         # Windows Powershell</a:t>
            </a:r>
            <a:b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</a:br>
            <a: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source .venv/bin/activate          # Linux</a:t>
            </a:r>
          </a:p>
          <a:p>
            <a:pPr marL="1143000" lvl="0" indent="-1143000">
              <a:buFont typeface="+mj-lt"/>
              <a:buAutoNum type="arabicPeriod"/>
            </a:pPr>
            <a: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python –version</a:t>
            </a:r>
            <a:b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</a:br>
            <a: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pip list                     # Check installed packages</a:t>
            </a:r>
          </a:p>
          <a:p>
            <a:pPr marL="1143000" lvl="0" indent="-1143000">
              <a:buFont typeface="+mj-lt"/>
              <a:buAutoNum type="arabicPeriod"/>
            </a:pPr>
            <a: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pip install –e .             # Install current library in virtualenv</a:t>
            </a:r>
          </a:p>
          <a:p>
            <a:pPr marL="1143000" lvl="0" indent="-1143000">
              <a:buFont typeface="+mj-lt"/>
              <a:buAutoNum type="arabicPeriod"/>
            </a:pPr>
            <a: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pip install pytest </a:t>
            </a:r>
            <a:b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</a:br>
            <a: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pytest         </a:t>
            </a:r>
          </a:p>
          <a:p>
            <a:pPr marL="1143000" lvl="0" indent="-1143000">
              <a:buFont typeface="+mj-lt"/>
              <a:buAutoNum type="arabicPeriod"/>
            </a:pPr>
            <a:r>
              <a:rPr lang="en-US" sz="3200">
                <a:solidFill>
                  <a:srgbClr val="081D3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deactivate                   # return to global environment</a:t>
            </a:r>
          </a:p>
        </p:txBody>
      </p:sp>
    </p:spTree>
    <p:extLst>
      <p:ext uri="{BB962C8B-B14F-4D97-AF65-F5344CB8AC3E}">
        <p14:creationId xmlns:p14="http://schemas.microsoft.com/office/powerpoint/2010/main" val="1583004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5952</TotalTime>
  <Words>215</Words>
  <Application>Microsoft Office PowerPoint</Application>
  <PresentationFormat>Custom</PresentationFormat>
  <Paragraphs>26</Paragraphs>
  <Slides>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  <vt:variant>
        <vt:lpstr>Custom Shows</vt:lpstr>
      </vt:variant>
      <vt:variant>
        <vt:i4>1</vt:i4>
      </vt:variant>
    </vt:vector>
  </HeadingPairs>
  <TitlesOfParts>
    <vt:vector size="12" baseType="lpstr">
      <vt:lpstr>Haim</vt:lpstr>
      <vt:lpstr>Courier New</vt:lpstr>
      <vt:lpstr>Aptos</vt:lpstr>
      <vt:lpstr>Calibri</vt:lpstr>
      <vt:lpstr>Arial</vt:lpstr>
      <vt:lpstr>TT Lakes Neue Expanded Bold</vt:lpstr>
      <vt:lpstr>Office Theme</vt:lpstr>
      <vt:lpstr>PowerPoint Presentation</vt:lpstr>
      <vt:lpstr>PowerPoint Presentation</vt:lpstr>
      <vt:lpstr>PowerPoint Presentation</vt:lpstr>
      <vt:lpstr>PowerPoint Presentation</vt:lpstr>
      <vt:lpstr>Title of Lecture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אראל סגל - תכנות אלגוריתמים מחקריים</dc:title>
  <dc:creator>דוד</dc:creator>
  <cp:lastModifiedBy>דוד אראל סגל הלוי/David Erel Segal Halevi</cp:lastModifiedBy>
  <cp:revision>41</cp:revision>
  <dcterms:created xsi:type="dcterms:W3CDTF">2006-08-16T00:00:00Z</dcterms:created>
  <dcterms:modified xsi:type="dcterms:W3CDTF">2026-03-25T15:05:10Z</dcterms:modified>
  <dc:identifier>DAG3jFQFlbw</dc:identifier>
</cp:coreProperties>
</file>