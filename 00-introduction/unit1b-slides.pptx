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8" r:id="rId2"/>
    <p:sldId id="294" r:id="rId3"/>
    <p:sldId id="293" r:id="rId4"/>
  </p:sldIdLst>
  <p:sldSz cx="18288000" cy="10287000"/>
  <p:notesSz cx="6858000" cy="9144000"/>
  <p:embeddedFontLst>
    <p:embeddedFont>
      <p:font typeface="Haim" panose="020B0604020202020204" charset="-79"/>
      <p:regular r:id="rId6"/>
    </p:embeddedFont>
    <p:embeddedFont>
      <p:font typeface="TT Lakes Neue Expanded Bold" panose="020B0604020202020204" charset="0"/>
      <p:regular r:id="rId7"/>
    </p:embeddedFont>
  </p:embeddedFontLst>
  <p:custShowLst>
    <p:custShow name="Title of Lecture 2" id="0">
      <p:sldLst/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Rg st="3" end="3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5" autoAdjust="0"/>
    <p:restoredTop sz="85005" autoAdjust="0"/>
  </p:normalViewPr>
  <p:slideViewPr>
    <p:cSldViewPr>
      <p:cViewPr varScale="1">
        <p:scale>
          <a:sx n="60" d="100"/>
          <a:sy n="60" d="100"/>
        </p:scale>
        <p:origin x="90" y="3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792BC0D5-0843-46CE-B4B3-FDD7262E77E3}" type="datetimeFigureOut">
              <a:rPr lang="he-IL" smtClean="0"/>
              <a:t>ט'/אדר/תשפ"ו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DAB58470-0623-4BFC-ADE1-E202593B04C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97241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E4387FA1-F6BD-AB4E-7A20-9437D0F33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E178E604-973A-A310-DE0D-081EA1DA0D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A3F5EE8D-F6DF-E727-0F3B-60E3113607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384E8E88-AC83-20EE-E63D-8F21588B53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2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244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3DE80F06-3E47-79F8-2F5C-2EFC04407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87E0034D-AD8B-6D27-684C-110054B98B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1DEE3A57-BE4E-ECF8-9AD5-9028AF772E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:notes">
            <a:extLst>
              <a:ext uri="{FF2B5EF4-FFF2-40B4-BE49-F238E27FC236}">
                <a16:creationId xmlns:a16="http://schemas.microsoft.com/office/drawing/2014/main" id="{B88E9B45-20E0-C0E9-5A75-22F3237D223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>
                <a:latin typeface="Calibri" panose="020F0502020204030204" pitchFamily="34" charset="0"/>
                <a:cs typeface="Calibri" panose="020F0502020204030204" pitchFamily="34" charset="0"/>
              </a:rPr>
              <a:t>3</a:t>
            </a:fld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719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ariel.ac.il/wp/cs/wp-content/uploads/sites/88/2020/08/Guidelines-for-Academic-Integrity.pdf" TargetMode="External"/><Relationship Id="rId5" Type="http://schemas.openxmlformats.org/officeDocument/2006/relationships/hyperlink" Target="https://chatgpt.com/share/67daa5e4-4cbc-8001-b97e-d27c7501e72e" TargetMode="External"/><Relationship Id="rId4" Type="http://schemas.openxmlformats.org/officeDocument/2006/relationships/hyperlink" Target="EnvyFreeMatchingsAndTheirApplications-InformationSciences.pdf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2025,%20Sun%20Yokoo,%20Achieving%20Balanced%20Representation%20in%20School%20Choice%20with%20Diversity%20Goals.pdf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hyperlink" Target="2020,%20Narang%20Biswas%20Narahari,%20On%20Achieving%20Fairness%20and%20Stability%20in%20Many-to-One%20Matchings.pdf" TargetMode="External"/><Relationship Id="rId5" Type="http://schemas.openxmlformats.org/officeDocument/2006/relationships/hyperlink" Target="2021,%20Oh%20Procaccia%20Suksompong,%20Fairly%20allocating%20many%20items%20with%20few%20querires.pdf" TargetMode="External"/><Relationship Id="rId4" Type="http://schemas.openxmlformats.org/officeDocument/2006/relationships/hyperlink" Target="2020,%20Bei%20et%20al,%20Dividing%20a%20graphical%20cake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71865" y="-485270"/>
            <a:ext cx="11706247" cy="11706247"/>
          </a:xfrm>
          <a:custGeom>
            <a:avLst/>
            <a:gdLst/>
            <a:ahLst/>
            <a:cxnLst/>
            <a:rect l="l" t="t" r="r" b="b"/>
            <a:pathLst>
              <a:path w="11706247" h="11706247">
                <a:moveTo>
                  <a:pt x="0" y="0"/>
                </a:moveTo>
                <a:lnTo>
                  <a:pt x="11706247" y="0"/>
                </a:lnTo>
                <a:lnTo>
                  <a:pt x="11706247" y="11706247"/>
                </a:lnTo>
                <a:lnTo>
                  <a:pt x="0" y="11706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11488273" y="-1977661"/>
            <a:ext cx="6994113" cy="8229600"/>
          </a:xfrm>
          <a:custGeom>
            <a:avLst/>
            <a:gdLst/>
            <a:ahLst/>
            <a:cxnLst/>
            <a:rect l="l" t="t" r="r" b="b"/>
            <a:pathLst>
              <a:path w="6994113" h="8229600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-5130555" y="1028700"/>
            <a:ext cx="6994113" cy="8229600"/>
          </a:xfrm>
          <a:custGeom>
            <a:avLst/>
            <a:gdLst/>
            <a:ahLst/>
            <a:cxnLst/>
            <a:rect l="l" t="t" r="r" b="b"/>
            <a:pathLst>
              <a:path w="6994113" h="8229600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Freeform 5"/>
          <p:cNvSpPr/>
          <p:nvPr/>
        </p:nvSpPr>
        <p:spPr>
          <a:xfrm>
            <a:off x="1028700" y="1600418"/>
            <a:ext cx="16514364" cy="7086163"/>
          </a:xfrm>
          <a:custGeom>
            <a:avLst/>
            <a:gdLst/>
            <a:ahLst/>
            <a:cxnLst/>
            <a:rect l="l" t="t" r="r" b="b"/>
            <a:pathLst>
              <a:path w="16514364" h="7086163">
                <a:moveTo>
                  <a:pt x="0" y="0"/>
                </a:moveTo>
                <a:lnTo>
                  <a:pt x="16514364" y="0"/>
                </a:lnTo>
                <a:lnTo>
                  <a:pt x="16514364" y="7086164"/>
                </a:lnTo>
                <a:lnTo>
                  <a:pt x="0" y="70861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6" name="Group 6"/>
          <p:cNvGrpSpPr/>
          <p:nvPr/>
        </p:nvGrpSpPr>
        <p:grpSpPr>
          <a:xfrm>
            <a:off x="7600950" y="9365373"/>
            <a:ext cx="3086100" cy="30861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6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1955380" y="-134402"/>
            <a:ext cx="4198317" cy="1339997"/>
          </a:xfrm>
          <a:custGeom>
            <a:avLst/>
            <a:gdLst/>
            <a:ahLst/>
            <a:cxnLst/>
            <a:rect l="l" t="t" r="r" b="b"/>
            <a:pathLst>
              <a:path w="4198317" h="1339997">
                <a:moveTo>
                  <a:pt x="0" y="0"/>
                </a:moveTo>
                <a:lnTo>
                  <a:pt x="4198317" y="0"/>
                </a:lnTo>
                <a:lnTo>
                  <a:pt x="4198317" y="1339996"/>
                </a:lnTo>
                <a:lnTo>
                  <a:pt x="0" y="13399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0" name="TextBox 10"/>
          <p:cNvSpPr txBox="1"/>
          <p:nvPr/>
        </p:nvSpPr>
        <p:spPr>
          <a:xfrm>
            <a:off x="1170631" y="3711164"/>
            <a:ext cx="16088669" cy="518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8135"/>
              </a:lnSpc>
            </a:pPr>
            <a:r>
              <a:rPr lang="he-IL" sz="7748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יחידה </a:t>
            </a:r>
            <a:r>
              <a:rPr lang="en-US" sz="7748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</a:rPr>
              <a:t>1</a:t>
            </a:r>
          </a:p>
          <a:p>
            <a:pPr algn="ctr" rtl="1">
              <a:lnSpc>
                <a:spcPts val="8135"/>
              </a:lnSpc>
            </a:pPr>
            <a:endParaRPr lang="en-US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</a:endParaRPr>
          </a:p>
          <a:p>
            <a:pPr algn="ctr" rtl="1">
              <a:lnSpc>
                <a:spcPts val="8135"/>
              </a:lnSpc>
            </a:pPr>
            <a:r>
              <a:rPr lang="he-IL" sz="7748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איך קוראים מאמר מחקרי?</a:t>
            </a:r>
          </a:p>
          <a:p>
            <a:pPr algn="ctr" rtl="1">
              <a:lnSpc>
                <a:spcPts val="8135"/>
              </a:lnSpc>
            </a:pPr>
            <a:endParaRPr lang="he-IL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  <a:rtl/>
            </a:endParaRPr>
          </a:p>
          <a:p>
            <a:pPr algn="ctr">
              <a:lnSpc>
                <a:spcPts val="8135"/>
              </a:lnSpc>
            </a:pPr>
            <a:endParaRPr lang="he-IL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  <a:rtl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245241" y="9751450"/>
            <a:ext cx="1684932" cy="233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sz="1739" b="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E607F66E-C8C3-FFEC-9C26-B03F36120BCC}"/>
              </a:ext>
            </a:extLst>
          </p:cNvPr>
          <p:cNvSpPr txBox="1"/>
          <p:nvPr/>
        </p:nvSpPr>
        <p:spPr>
          <a:xfrm>
            <a:off x="1028700" y="469080"/>
            <a:ext cx="16514364" cy="1009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35"/>
              </a:lnSpc>
            </a:pPr>
            <a:r>
              <a:rPr lang="he-IL" sz="6000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תכנות אלגוריתמים מחקריים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2BCFECAD-6922-04FB-4156-FDCDA18A316C}"/>
              </a:ext>
            </a:extLst>
          </p:cNvPr>
          <p:cNvSpPr txBox="1"/>
          <p:nvPr/>
        </p:nvSpPr>
        <p:spPr>
          <a:xfrm>
            <a:off x="1028700" y="7962900"/>
            <a:ext cx="16421099" cy="373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624"/>
              </a:lnSpc>
              <a:spcBef>
                <a:spcPct val="0"/>
              </a:spcBef>
            </a:pPr>
            <a:r>
              <a:rPr lang="he-IL" sz="3200" u="none" strike="noStrike" dirty="0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פרופ' אראל </a:t>
            </a:r>
            <a:r>
              <a:rPr lang="he-IL" sz="3200" u="none" strike="noStrike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סגל הלוי - </a:t>
            </a:r>
            <a:r>
              <a:rPr lang="he-IL" sz="3200" u="none" strike="noStrike" dirty="0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המחלקה למדעי המחשב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E5D34F34-5737-E55C-E9B0-F81ABB630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32651519-5773-8EDD-C66F-8F67BA97482D}"/>
              </a:ext>
            </a:extLst>
          </p:cNvPr>
          <p:cNvSpPr txBox="1"/>
          <p:nvPr/>
        </p:nvSpPr>
        <p:spPr>
          <a:xfrm>
            <a:off x="3735142" y="-24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שימוש בכלי בינה מלאכותית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166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5735AA0B-D130-1B92-37F5-F3CD3DF27BD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4652" y="121100"/>
            <a:ext cx="1676400" cy="9287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7;p2">
            <a:extLst>
              <a:ext uri="{FF2B5EF4-FFF2-40B4-BE49-F238E27FC236}">
                <a16:creationId xmlns:a16="http://schemas.microsoft.com/office/drawing/2014/main" id="{73A759A4-726F-905F-89A3-1F982921584C}"/>
              </a:ext>
            </a:extLst>
          </p:cNvPr>
          <p:cNvSpPr txBox="1"/>
          <p:nvPr/>
        </p:nvSpPr>
        <p:spPr>
          <a:xfrm>
            <a:off x="1955552" y="1195414"/>
            <a:ext cx="16042888" cy="9307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57250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כלי בינה מלאכותית בימינו </a:t>
            </a:r>
            <a:r>
              <a:rPr lang="he-IL" sz="600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יכולים להבין מאמרים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 אבל </a:t>
            </a:r>
            <a:r>
              <a:rPr lang="he-IL" sz="6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יכולים גם לעשות טעויות </a:t>
            </a:r>
            <a:r>
              <a:rPr lang="he-IL" sz="48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lang="he-IL" sz="48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4" action="ppaction://hlinkfile"/>
              </a:rPr>
              <a:t>מאמר</a:t>
            </a:r>
            <a:r>
              <a:rPr lang="he-IL" sz="48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 </a:t>
            </a:r>
            <a:r>
              <a:rPr lang="he-IL" sz="48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5"/>
              </a:rPr>
              <a:t>שיחה</a:t>
            </a:r>
            <a:r>
              <a:rPr lang="he-IL" sz="48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)</a:t>
            </a:r>
            <a:r>
              <a:rPr lang="he-IL" sz="7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</a:p>
          <a:p>
            <a:pPr marL="857250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כמתכנתים, </a:t>
            </a:r>
            <a:r>
              <a:rPr lang="he-IL" sz="6000" b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האחריות על הקוד היא עליכם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 </a:t>
            </a:r>
          </a:p>
          <a:p>
            <a:pPr marL="857250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אתם צריכים לקרוא ולהבין את המאמר בעצמכם, כדי שתוכלו לוודא אם הב"מ עשה עבודה נכונה.</a:t>
            </a:r>
            <a:endParaRPr lang="he-IL" sz="720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857250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 b="1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חובה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להגיש קישור-שיתוף או העתק של השיחה.</a:t>
            </a:r>
          </a:p>
          <a:p>
            <a:pPr marL="857250" indent="-857250" algn="r" rtl="1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he-IL" sz="6000">
                <a:hlinkClick r:id="rId6"/>
              </a:rPr>
              <a:t>תקנון יושר - המחלקה למדעי המחשב</a:t>
            </a:r>
            <a:r>
              <a:rPr lang="he-IL" sz="600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BE247D-7523-0BBD-5F28-6EAF6A1EEBBA}"/>
              </a:ext>
            </a:extLst>
          </p:cNvPr>
          <p:cNvSpPr txBox="1"/>
          <p:nvPr/>
        </p:nvSpPr>
        <p:spPr>
          <a:xfrm>
            <a:off x="5605578" y="9204662"/>
            <a:ext cx="1122927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L" sz="6000"/>
          </a:p>
        </p:txBody>
      </p:sp>
    </p:spTree>
    <p:extLst>
      <p:ext uri="{BB962C8B-B14F-4D97-AF65-F5344CB8AC3E}">
        <p14:creationId xmlns:p14="http://schemas.microsoft.com/office/powerpoint/2010/main" val="4140620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13252613-B2B9-8724-3318-2EC3EED68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>
            <a:extLst>
              <a:ext uri="{FF2B5EF4-FFF2-40B4-BE49-F238E27FC236}">
                <a16:creationId xmlns:a16="http://schemas.microsoft.com/office/drawing/2014/main" id="{1E261A9A-1A2A-B111-9C91-8606A9702FB8}"/>
              </a:ext>
            </a:extLst>
          </p:cNvPr>
          <p:cNvSpPr txBox="1"/>
          <p:nvPr/>
        </p:nvSpPr>
        <p:spPr>
          <a:xfrm>
            <a:off x="3735142" y="-24500"/>
            <a:ext cx="1081771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1" i="0" u="none" strike="noStrike" cap="none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אתגרים בהבנת מאמר</a:t>
            </a:r>
            <a:endParaRPr sz="7500" b="1" i="0" u="none" strike="noStrike" cap="none" dirty="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34E2BD-B132-502B-1DE7-98FAA483994E}"/>
              </a:ext>
            </a:extLst>
          </p:cNvPr>
          <p:cNvSpPr txBox="1"/>
          <p:nvPr/>
        </p:nvSpPr>
        <p:spPr>
          <a:xfrm>
            <a:off x="4605453" y="9271337"/>
            <a:ext cx="1122927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L" sz="6000"/>
          </a:p>
        </p:txBody>
      </p:sp>
      <p:sp>
        <p:nvSpPr>
          <p:cNvPr id="3" name="Google Shape;127;p2">
            <a:extLst>
              <a:ext uri="{FF2B5EF4-FFF2-40B4-BE49-F238E27FC236}">
                <a16:creationId xmlns:a16="http://schemas.microsoft.com/office/drawing/2014/main" id="{8D59347C-4BBB-E507-B7D0-7EA8DA38E932}"/>
              </a:ext>
            </a:extLst>
          </p:cNvPr>
          <p:cNvSpPr txBox="1"/>
          <p:nvPr/>
        </p:nvSpPr>
        <p:spPr>
          <a:xfrm>
            <a:off x="1940312" y="1394938"/>
            <a:ext cx="16042888" cy="9048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מושגים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עם משמעות ייחודית;</a:t>
            </a:r>
          </a:p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סימונים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עם משמעות מדוייקת;</a:t>
            </a:r>
          </a:p>
          <a:p>
            <a:pPr marL="1143000" marR="0" lvl="0" indent="-1143000" algn="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שורות-קוד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שצריך אלגוריתם שלם כדי לממש 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3" action="ppaction://hlinkfile"/>
              </a:rPr>
              <a:t>מאמר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:  אלג.1)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;</a:t>
            </a:r>
          </a:p>
          <a:p>
            <a:pPr marL="1143000" indent="-1143000" algn="r" rtl="1">
              <a:lnSpc>
                <a:spcPct val="140000"/>
              </a:lnSpc>
              <a:buFont typeface="+mj-lt"/>
              <a:buAutoNum type="arabicPeriod"/>
            </a:pP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הוכחות 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שבתוכן מסתתר אלגוריתם 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4" action="ppaction://hlinkfile"/>
              </a:rPr>
              <a:t>מאמר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:</a:t>
            </a:r>
            <a:r>
              <a:rPr lang="en-US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למה 4.3)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;</a:t>
            </a:r>
          </a:p>
          <a:p>
            <a:pPr marL="1143000" indent="-1143000" algn="r" rtl="1">
              <a:lnSpc>
                <a:spcPct val="140000"/>
              </a:lnSpc>
              <a:buFont typeface="+mj-lt"/>
              <a:buAutoNum type="arabicPeriod"/>
            </a:pP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אלגוריתמים "</a:t>
            </a: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בלי הגבלת הכלליות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" 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5" action="ppaction://hlinkfile"/>
              </a:rPr>
              <a:t>מאמר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: אלג.2)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;</a:t>
            </a:r>
          </a:p>
          <a:p>
            <a:pPr marL="1143000" indent="-1143000" algn="r" rtl="1">
              <a:lnSpc>
                <a:spcPct val="140000"/>
              </a:lnSpc>
              <a:buFont typeface="+mj-lt"/>
              <a:buAutoNum type="arabicPeriod"/>
            </a:pPr>
            <a:r>
              <a:rPr lang="he-IL" sz="6000" b="1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שגיאות-כתיב ובאגים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באלגוריתמים 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  <a:hlinkClick r:id="rId6" action="ppaction://hlinkfile"/>
              </a:rPr>
              <a:t>מאמר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:</a:t>
            </a:r>
            <a:r>
              <a:rPr lang="en-US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he-IL" sz="32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אלג.1,2,8; דואל)</a:t>
            </a:r>
            <a:r>
              <a:rPr lang="he-IL" sz="6000">
                <a:solidFill>
                  <a:srgbClr val="081D3F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;</a:t>
            </a:r>
          </a:p>
          <a:p>
            <a:pPr marL="1143000" indent="-1143000" algn="r" rtl="1">
              <a:lnSpc>
                <a:spcPct val="140000"/>
              </a:lnSpc>
              <a:buFont typeface="+mj-lt"/>
              <a:buAutoNum type="arabicPeriod"/>
            </a:pPr>
            <a:endParaRPr lang="he-IL" sz="6000">
              <a:solidFill>
                <a:srgbClr val="081D3F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pic>
        <p:nvPicPr>
          <p:cNvPr id="2" name="Google Shape;166;p2" descr="מדיניות פרטיות - מערכת בגרויות אוניברסיטת אריאל">
            <a:extLst>
              <a:ext uri="{FF2B5EF4-FFF2-40B4-BE49-F238E27FC236}">
                <a16:creationId xmlns:a16="http://schemas.microsoft.com/office/drawing/2014/main" id="{78FD1B22-8F32-52D8-2D74-5721CD3BEAD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94652" y="121100"/>
            <a:ext cx="1676400" cy="9287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20728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5781</TotalTime>
  <Words>145</Words>
  <Application>Microsoft Office PowerPoint</Application>
  <PresentationFormat>Custom</PresentationFormat>
  <Paragraphs>21</Paragraphs>
  <Slides>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  <vt:variant>
        <vt:lpstr>Custom Shows</vt:lpstr>
      </vt:variant>
      <vt:variant>
        <vt:i4>1</vt:i4>
      </vt:variant>
    </vt:vector>
  </HeadingPairs>
  <TitlesOfParts>
    <vt:vector size="10" baseType="lpstr">
      <vt:lpstr>Haim</vt:lpstr>
      <vt:lpstr>TT Lakes Neue Expanded Bold</vt:lpstr>
      <vt:lpstr>Aptos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Title of Lecture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אראל סגל - תכנות אלגוריתמים מחקריים</dc:title>
  <dc:creator>דוד</dc:creator>
  <cp:lastModifiedBy>דוד אראל סגל הלוי/David Erel Segal Halevi</cp:lastModifiedBy>
  <cp:revision>13</cp:revision>
  <dcterms:created xsi:type="dcterms:W3CDTF">2006-08-16T00:00:00Z</dcterms:created>
  <dcterms:modified xsi:type="dcterms:W3CDTF">2026-02-26T14:05:36Z</dcterms:modified>
  <dc:identifier>DAG3jFQFlbw</dc:identifier>
</cp:coreProperties>
</file>