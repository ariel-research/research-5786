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5"/>
  </p:notesMasterIdLst>
  <p:sldIdLst>
    <p:sldId id="258" r:id="rId2"/>
    <p:sldId id="274" r:id="rId3"/>
    <p:sldId id="283" r:id="rId4"/>
    <p:sldId id="285" r:id="rId5"/>
    <p:sldId id="281" r:id="rId6"/>
    <p:sldId id="284" r:id="rId7"/>
    <p:sldId id="286" r:id="rId8"/>
    <p:sldId id="288" r:id="rId9"/>
    <p:sldId id="287" r:id="rId10"/>
    <p:sldId id="289" r:id="rId11"/>
    <p:sldId id="290" r:id="rId12"/>
    <p:sldId id="291" r:id="rId13"/>
    <p:sldId id="292" r:id="rId14"/>
  </p:sldIdLst>
  <p:sldSz cx="18288000" cy="10287000"/>
  <p:notesSz cx="6858000" cy="9144000"/>
  <p:embeddedFontLst>
    <p:embeddedFont>
      <p:font typeface="Haim" panose="020B0604020202020204" charset="-79"/>
      <p:regular r:id="rId16"/>
    </p:embeddedFont>
    <p:embeddedFont>
      <p:font typeface="TT Lakes Neue Expanded Bold" panose="020B0604020202020204" charset="0"/>
      <p:regular r:id="rId17"/>
    </p:embeddedFont>
  </p:embeddedFontLst>
  <p:custShowLst>
    <p:custShow name="Title of Lecture 2" id="0">
      <p:sldLst/>
    </p:custShow>
  </p:custShow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browse/>
    <p:sldRg st="3" end="3"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75" autoAdjust="0"/>
    <p:restoredTop sz="85005" autoAdjust="0"/>
  </p:normalViewPr>
  <p:slideViewPr>
    <p:cSldViewPr>
      <p:cViewPr varScale="1">
        <p:scale>
          <a:sx n="53" d="100"/>
          <a:sy n="53" d="100"/>
        </p:scale>
        <p:origin x="782" y="5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792BC0D5-0843-46CE-B4B3-FDD7262E77E3}" type="datetimeFigureOut">
              <a:rPr lang="he-IL" smtClean="0"/>
              <a:t>י"ב/אדר/תשפ"ו</a:t>
            </a:fld>
            <a:endParaRPr lang="he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e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DAB58470-0623-4BFC-ADE1-E202593B04CA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972419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4" name="Google Shape;12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2:notes"/>
          <p:cNvSpPr txBox="1">
            <a:spLocks noGrp="1"/>
          </p:cNvSpPr>
          <p:nvPr>
            <p:ph type="sldNum" idx="12"/>
          </p:nvPr>
        </p:nvSpPr>
        <p:spPr>
          <a:xfrm>
            <a:off x="1588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>
                <a:latin typeface="Calibri" panose="020F0502020204030204" pitchFamily="34" charset="0"/>
                <a:cs typeface="Calibri" panose="020F0502020204030204" pitchFamily="34" charset="0"/>
              </a:rPr>
              <a:t>2</a:t>
            </a:fld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6394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>
          <a:extLst>
            <a:ext uri="{FF2B5EF4-FFF2-40B4-BE49-F238E27FC236}">
              <a16:creationId xmlns:a16="http://schemas.microsoft.com/office/drawing/2014/main" id="{76B91BA4-4F87-A55E-9147-748855290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:notes">
            <a:extLst>
              <a:ext uri="{FF2B5EF4-FFF2-40B4-BE49-F238E27FC236}">
                <a16:creationId xmlns:a16="http://schemas.microsoft.com/office/drawing/2014/main" id="{F086DC65-8252-D014-D5D3-3A60DDA307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4" name="Google Shape;124;p2:notes">
            <a:extLst>
              <a:ext uri="{FF2B5EF4-FFF2-40B4-BE49-F238E27FC236}">
                <a16:creationId xmlns:a16="http://schemas.microsoft.com/office/drawing/2014/main" id="{A569E4F3-1D24-26E9-21F3-4E01576964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2:notes">
            <a:extLst>
              <a:ext uri="{FF2B5EF4-FFF2-40B4-BE49-F238E27FC236}">
                <a16:creationId xmlns:a16="http://schemas.microsoft.com/office/drawing/2014/main" id="{2E2BB8B9-7142-741F-41CC-565B538A878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588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>
                <a:latin typeface="Calibri" panose="020F0502020204030204" pitchFamily="34" charset="0"/>
                <a:cs typeface="Calibri" panose="020F0502020204030204" pitchFamily="34" charset="0"/>
              </a:rPr>
              <a:t>3</a:t>
            </a:fld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51098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>
          <a:extLst>
            <a:ext uri="{FF2B5EF4-FFF2-40B4-BE49-F238E27FC236}">
              <a16:creationId xmlns:a16="http://schemas.microsoft.com/office/drawing/2014/main" id="{48FFDBF4-E57E-A22D-3421-7DAA17673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:notes">
            <a:extLst>
              <a:ext uri="{FF2B5EF4-FFF2-40B4-BE49-F238E27FC236}">
                <a16:creationId xmlns:a16="http://schemas.microsoft.com/office/drawing/2014/main" id="{D67B7819-609E-6ACC-349C-079690F867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4" name="Google Shape;124;p2:notes">
            <a:extLst>
              <a:ext uri="{FF2B5EF4-FFF2-40B4-BE49-F238E27FC236}">
                <a16:creationId xmlns:a16="http://schemas.microsoft.com/office/drawing/2014/main" id="{CAC0681F-5343-541E-8417-F1910CBA04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2:notes">
            <a:extLst>
              <a:ext uri="{FF2B5EF4-FFF2-40B4-BE49-F238E27FC236}">
                <a16:creationId xmlns:a16="http://schemas.microsoft.com/office/drawing/2014/main" id="{B3F2AEBD-1831-B95C-CBFC-309822FE89A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588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>
                <a:latin typeface="Calibri" panose="020F0502020204030204" pitchFamily="34" charset="0"/>
                <a:cs typeface="Calibri" panose="020F0502020204030204" pitchFamily="34" charset="0"/>
              </a:rPr>
              <a:t>4</a:t>
            </a:fld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56177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>
          <a:extLst>
            <a:ext uri="{FF2B5EF4-FFF2-40B4-BE49-F238E27FC236}">
              <a16:creationId xmlns:a16="http://schemas.microsoft.com/office/drawing/2014/main" id="{30A9D23B-A749-9443-5581-BD9CD07C2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:notes">
            <a:extLst>
              <a:ext uri="{FF2B5EF4-FFF2-40B4-BE49-F238E27FC236}">
                <a16:creationId xmlns:a16="http://schemas.microsoft.com/office/drawing/2014/main" id="{D3D0FB5B-7E4A-970E-3A39-E48F7B01FE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4" name="Google Shape;124;p2:notes">
            <a:extLst>
              <a:ext uri="{FF2B5EF4-FFF2-40B4-BE49-F238E27FC236}">
                <a16:creationId xmlns:a16="http://schemas.microsoft.com/office/drawing/2014/main" id="{A643090A-3083-29E9-F988-4437286558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2:notes">
            <a:extLst>
              <a:ext uri="{FF2B5EF4-FFF2-40B4-BE49-F238E27FC236}">
                <a16:creationId xmlns:a16="http://schemas.microsoft.com/office/drawing/2014/main" id="{9641CCF3-7E25-B15A-1A3B-9F5EE8617DC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588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>
                <a:latin typeface="Calibri" panose="020F0502020204030204" pitchFamily="34" charset="0"/>
                <a:cs typeface="Calibri" panose="020F0502020204030204" pitchFamily="34" charset="0"/>
              </a:rPr>
              <a:t>5</a:t>
            </a:fld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26238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>
          <a:extLst>
            <a:ext uri="{FF2B5EF4-FFF2-40B4-BE49-F238E27FC236}">
              <a16:creationId xmlns:a16="http://schemas.microsoft.com/office/drawing/2014/main" id="{E74E822D-D481-57D3-2FAD-91AE3D306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:notes">
            <a:extLst>
              <a:ext uri="{FF2B5EF4-FFF2-40B4-BE49-F238E27FC236}">
                <a16:creationId xmlns:a16="http://schemas.microsoft.com/office/drawing/2014/main" id="{1C3D9F5D-3724-8BF3-0D66-49CCD386FDE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4" name="Google Shape;124;p2:notes">
            <a:extLst>
              <a:ext uri="{FF2B5EF4-FFF2-40B4-BE49-F238E27FC236}">
                <a16:creationId xmlns:a16="http://schemas.microsoft.com/office/drawing/2014/main" id="{F5610883-DFF0-C0C6-F161-B01D80085C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2:notes">
            <a:extLst>
              <a:ext uri="{FF2B5EF4-FFF2-40B4-BE49-F238E27FC236}">
                <a16:creationId xmlns:a16="http://schemas.microsoft.com/office/drawing/2014/main" id="{27665929-1116-E975-F19C-BD8E1BEFF4F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588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>
                <a:latin typeface="Calibri" panose="020F0502020204030204" pitchFamily="34" charset="0"/>
                <a:cs typeface="Calibri" panose="020F0502020204030204" pitchFamily="34" charset="0"/>
              </a:rPr>
              <a:t>6</a:t>
            </a:fld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014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>
          <a:extLst>
            <a:ext uri="{FF2B5EF4-FFF2-40B4-BE49-F238E27FC236}">
              <a16:creationId xmlns:a16="http://schemas.microsoft.com/office/drawing/2014/main" id="{6BEC93E7-C0AE-1AFF-AB5E-71FE5DF35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:notes">
            <a:extLst>
              <a:ext uri="{FF2B5EF4-FFF2-40B4-BE49-F238E27FC236}">
                <a16:creationId xmlns:a16="http://schemas.microsoft.com/office/drawing/2014/main" id="{5DC89A3F-7BEC-38E7-38BC-E4A51D09CF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4" name="Google Shape;124;p2:notes">
            <a:extLst>
              <a:ext uri="{FF2B5EF4-FFF2-40B4-BE49-F238E27FC236}">
                <a16:creationId xmlns:a16="http://schemas.microsoft.com/office/drawing/2014/main" id="{A21EE2EB-5409-D051-D601-76920ACB1B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2:notes">
            <a:extLst>
              <a:ext uri="{FF2B5EF4-FFF2-40B4-BE49-F238E27FC236}">
                <a16:creationId xmlns:a16="http://schemas.microsoft.com/office/drawing/2014/main" id="{46AB571C-E319-63CB-16C7-56EC52C723A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588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>
                <a:latin typeface="Calibri" panose="020F0502020204030204" pitchFamily="34" charset="0"/>
                <a:cs typeface="Calibri" panose="020F0502020204030204" pitchFamily="34" charset="0"/>
              </a:rPr>
              <a:t>7</a:t>
            </a:fld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66546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>
          <a:extLst>
            <a:ext uri="{FF2B5EF4-FFF2-40B4-BE49-F238E27FC236}">
              <a16:creationId xmlns:a16="http://schemas.microsoft.com/office/drawing/2014/main" id="{99DCF86D-8147-D610-BE0C-4FE48D5A4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:notes">
            <a:extLst>
              <a:ext uri="{FF2B5EF4-FFF2-40B4-BE49-F238E27FC236}">
                <a16:creationId xmlns:a16="http://schemas.microsoft.com/office/drawing/2014/main" id="{41D3CFEE-5C9E-9BE0-F904-E6D9DCECA5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4" name="Google Shape;124;p2:notes">
            <a:extLst>
              <a:ext uri="{FF2B5EF4-FFF2-40B4-BE49-F238E27FC236}">
                <a16:creationId xmlns:a16="http://schemas.microsoft.com/office/drawing/2014/main" id="{64CC3EA8-F946-EA51-4EFC-DC25388C97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2:notes">
            <a:extLst>
              <a:ext uri="{FF2B5EF4-FFF2-40B4-BE49-F238E27FC236}">
                <a16:creationId xmlns:a16="http://schemas.microsoft.com/office/drawing/2014/main" id="{58E0D36D-7E8B-333E-C50C-DE33DB7318B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588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>
                <a:latin typeface="Calibri" panose="020F0502020204030204" pitchFamily="34" charset="0"/>
                <a:cs typeface="Calibri" panose="020F0502020204030204" pitchFamily="34" charset="0"/>
              </a:rPr>
              <a:t>8</a:t>
            </a:fld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13922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>
          <a:extLst>
            <a:ext uri="{FF2B5EF4-FFF2-40B4-BE49-F238E27FC236}">
              <a16:creationId xmlns:a16="http://schemas.microsoft.com/office/drawing/2014/main" id="{57AB43D9-E913-4E67-89B8-4DD5CEF75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:notes">
            <a:extLst>
              <a:ext uri="{FF2B5EF4-FFF2-40B4-BE49-F238E27FC236}">
                <a16:creationId xmlns:a16="http://schemas.microsoft.com/office/drawing/2014/main" id="{7F50AEFB-55DE-204C-32DC-7748991622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4" name="Google Shape;124;p2:notes">
            <a:extLst>
              <a:ext uri="{FF2B5EF4-FFF2-40B4-BE49-F238E27FC236}">
                <a16:creationId xmlns:a16="http://schemas.microsoft.com/office/drawing/2014/main" id="{FF31ADAA-3A61-8CA7-F382-23E2126914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2:notes">
            <a:extLst>
              <a:ext uri="{FF2B5EF4-FFF2-40B4-BE49-F238E27FC236}">
                <a16:creationId xmlns:a16="http://schemas.microsoft.com/office/drawing/2014/main" id="{A70B5638-A210-1497-BDA7-29B6C8045ED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588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>
                <a:latin typeface="Calibri" panose="020F0502020204030204" pitchFamily="34" charset="0"/>
                <a:cs typeface="Calibri" panose="020F0502020204030204" pitchFamily="34" charset="0"/>
              </a:rPr>
              <a:t>9</a:t>
            </a:fld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38111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>
          <a:extLst>
            <a:ext uri="{FF2B5EF4-FFF2-40B4-BE49-F238E27FC236}">
              <a16:creationId xmlns:a16="http://schemas.microsoft.com/office/drawing/2014/main" id="{93BD9FB6-6F2A-714C-8827-DC56205E7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:notes">
            <a:extLst>
              <a:ext uri="{FF2B5EF4-FFF2-40B4-BE49-F238E27FC236}">
                <a16:creationId xmlns:a16="http://schemas.microsoft.com/office/drawing/2014/main" id="{F6F7149C-4F65-8A05-B440-B80F76D539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4" name="Google Shape;124;p2:notes">
            <a:extLst>
              <a:ext uri="{FF2B5EF4-FFF2-40B4-BE49-F238E27FC236}">
                <a16:creationId xmlns:a16="http://schemas.microsoft.com/office/drawing/2014/main" id="{4E1E6373-0D5B-8A69-A28E-8309063CB7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2:notes">
            <a:extLst>
              <a:ext uri="{FF2B5EF4-FFF2-40B4-BE49-F238E27FC236}">
                <a16:creationId xmlns:a16="http://schemas.microsoft.com/office/drawing/2014/main" id="{1980271B-94B6-4875-E75C-65C53B65343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588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>
                <a:latin typeface="Calibri" panose="020F0502020204030204" pitchFamily="34" charset="0"/>
                <a:cs typeface="Calibri" panose="020F0502020204030204" pitchFamily="34" charset="0"/>
              </a:rPr>
              <a:t>10</a:t>
            </a:fld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18461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>
          <a:extLst>
            <a:ext uri="{FF2B5EF4-FFF2-40B4-BE49-F238E27FC236}">
              <a16:creationId xmlns:a16="http://schemas.microsoft.com/office/drawing/2014/main" id="{F2F259F4-52B9-CDD4-3FF7-A6CA98B4D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:notes">
            <a:extLst>
              <a:ext uri="{FF2B5EF4-FFF2-40B4-BE49-F238E27FC236}">
                <a16:creationId xmlns:a16="http://schemas.microsoft.com/office/drawing/2014/main" id="{936C850E-1822-0F40-01AD-74C9D78866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4" name="Google Shape;124;p2:notes">
            <a:extLst>
              <a:ext uri="{FF2B5EF4-FFF2-40B4-BE49-F238E27FC236}">
                <a16:creationId xmlns:a16="http://schemas.microsoft.com/office/drawing/2014/main" id="{DB92F23A-0512-7DAB-EC79-5D7AA22317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2:notes">
            <a:extLst>
              <a:ext uri="{FF2B5EF4-FFF2-40B4-BE49-F238E27FC236}">
                <a16:creationId xmlns:a16="http://schemas.microsoft.com/office/drawing/2014/main" id="{86342AF9-57DC-1E07-A53B-D5FD8FFB4E3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588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>
                <a:latin typeface="Calibri" panose="020F0502020204030204" pitchFamily="34" charset="0"/>
                <a:cs typeface="Calibri" panose="020F0502020204030204" pitchFamily="34" charset="0"/>
              </a:rPr>
              <a:t>11</a:t>
            </a:fld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46903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>
          <a:extLst>
            <a:ext uri="{FF2B5EF4-FFF2-40B4-BE49-F238E27FC236}">
              <a16:creationId xmlns:a16="http://schemas.microsoft.com/office/drawing/2014/main" id="{4B9CA07C-6C94-97A2-D36D-1A1DB2DC0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:notes">
            <a:extLst>
              <a:ext uri="{FF2B5EF4-FFF2-40B4-BE49-F238E27FC236}">
                <a16:creationId xmlns:a16="http://schemas.microsoft.com/office/drawing/2014/main" id="{A4E58CD6-2418-8C97-7E56-EF80610098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4" name="Google Shape;124;p2:notes">
            <a:extLst>
              <a:ext uri="{FF2B5EF4-FFF2-40B4-BE49-F238E27FC236}">
                <a16:creationId xmlns:a16="http://schemas.microsoft.com/office/drawing/2014/main" id="{4169B85B-B9A4-7275-4541-F984BD1D34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2:notes">
            <a:extLst>
              <a:ext uri="{FF2B5EF4-FFF2-40B4-BE49-F238E27FC236}">
                <a16:creationId xmlns:a16="http://schemas.microsoft.com/office/drawing/2014/main" id="{672A579A-9F7A-50FC-64D8-B89D2B79BB9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588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>
                <a:latin typeface="Calibri" panose="020F0502020204030204" pitchFamily="34" charset="0"/>
                <a:cs typeface="Calibri" panose="020F0502020204030204" pitchFamily="34" charset="0"/>
              </a:rPr>
              <a:t>12</a:t>
            </a:fld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23744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>
          <a:extLst>
            <a:ext uri="{FF2B5EF4-FFF2-40B4-BE49-F238E27FC236}">
              <a16:creationId xmlns:a16="http://schemas.microsoft.com/office/drawing/2014/main" id="{CA30CB61-47F3-8438-26EE-07BE04131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:notes">
            <a:extLst>
              <a:ext uri="{FF2B5EF4-FFF2-40B4-BE49-F238E27FC236}">
                <a16:creationId xmlns:a16="http://schemas.microsoft.com/office/drawing/2014/main" id="{648A8482-02E6-A758-E8AC-A6FD357181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4" name="Google Shape;124;p2:notes">
            <a:extLst>
              <a:ext uri="{FF2B5EF4-FFF2-40B4-BE49-F238E27FC236}">
                <a16:creationId xmlns:a16="http://schemas.microsoft.com/office/drawing/2014/main" id="{7B5CD940-C40C-55AC-ECB2-8F1160F83D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2:notes">
            <a:extLst>
              <a:ext uri="{FF2B5EF4-FFF2-40B4-BE49-F238E27FC236}">
                <a16:creationId xmlns:a16="http://schemas.microsoft.com/office/drawing/2014/main" id="{104901E7-39E3-7C7D-234F-147B915F490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588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>
                <a:latin typeface="Calibri" panose="020F0502020204030204" pitchFamily="34" charset="0"/>
                <a:cs typeface="Calibri" panose="020F0502020204030204" pitchFamily="34" charset="0"/>
              </a:rPr>
              <a:t>13</a:t>
            </a:fld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85809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2026-03-01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2026-03-01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2026-03-01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2026-03-01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2026-03-01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2026-03-01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2026-03-01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2026-03-01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2026-03-01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2026-03-01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2026-03-01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2026-03-01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article/10.1007/BF01386390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cholar.google.com/scholar?q=%22new+algorithm%22&amp;hl=iw&amp;as_sdt=0%2C5&amp;inst=9485470196299243772&amp;as_ylo=2025&amp;as_yhi=2025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research.google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hyperlink" Target="https://research.facebook.com/" TargetMode="External"/><Relationship Id="rId4" Type="http://schemas.openxmlformats.org/officeDocument/2006/relationships/hyperlink" Target="https://research.ibm.com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research.google/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hyperlink" Target="https://research.facebook.com/" TargetMode="External"/><Relationship Id="rId4" Type="http://schemas.openxmlformats.org/officeDocument/2006/relationships/hyperlink" Target="https://research.ibm.com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relsgl-at-ariel/research-5785/blob/main/papers.md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hyperlink" Target="https://scholar.google.com/scholar?q=%22new+algorithm%22&amp;hl=iw&amp;as_sdt=0%2C5&amp;inst=9485470196299243772&amp;as_ylo=2024&amp;as_yhi=2024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riel.ac.il/wp/cs/wp-content/uploads/sites/88/2020/08/Guidelines-for-Academic-Integrity.pdf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97B2">
                <a:alpha val="100000"/>
              </a:srgbClr>
            </a:gs>
            <a:gs pos="50000">
              <a:srgbClr val="3A6A9E">
                <a:alpha val="100000"/>
              </a:srgbClr>
            </a:gs>
            <a:gs pos="100000">
              <a:srgbClr val="103863">
                <a:alpha val="100000"/>
              </a:srgbClr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7771865" y="-485270"/>
            <a:ext cx="11706247" cy="11706247"/>
          </a:xfrm>
          <a:custGeom>
            <a:avLst/>
            <a:gdLst/>
            <a:ahLst/>
            <a:cxnLst/>
            <a:rect l="l" t="t" r="r" b="b"/>
            <a:pathLst>
              <a:path w="11706247" h="11706247">
                <a:moveTo>
                  <a:pt x="0" y="0"/>
                </a:moveTo>
                <a:lnTo>
                  <a:pt x="11706247" y="0"/>
                </a:lnTo>
                <a:lnTo>
                  <a:pt x="11706247" y="11706247"/>
                </a:lnTo>
                <a:lnTo>
                  <a:pt x="0" y="1170624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he-IL"/>
          </a:p>
        </p:txBody>
      </p:sp>
      <p:sp>
        <p:nvSpPr>
          <p:cNvPr id="3" name="Freeform 3"/>
          <p:cNvSpPr/>
          <p:nvPr/>
        </p:nvSpPr>
        <p:spPr>
          <a:xfrm>
            <a:off x="11488273" y="-1977661"/>
            <a:ext cx="6994113" cy="8229600"/>
          </a:xfrm>
          <a:custGeom>
            <a:avLst/>
            <a:gdLst/>
            <a:ahLst/>
            <a:cxnLst/>
            <a:rect l="l" t="t" r="r" b="b"/>
            <a:pathLst>
              <a:path w="6994113" h="8229600">
                <a:moveTo>
                  <a:pt x="0" y="0"/>
                </a:moveTo>
                <a:lnTo>
                  <a:pt x="6994113" y="0"/>
                </a:lnTo>
                <a:lnTo>
                  <a:pt x="6994113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he-IL"/>
          </a:p>
        </p:txBody>
      </p:sp>
      <p:sp>
        <p:nvSpPr>
          <p:cNvPr id="4" name="Freeform 4"/>
          <p:cNvSpPr/>
          <p:nvPr/>
        </p:nvSpPr>
        <p:spPr>
          <a:xfrm>
            <a:off x="-5130555" y="1028700"/>
            <a:ext cx="6994113" cy="8229600"/>
          </a:xfrm>
          <a:custGeom>
            <a:avLst/>
            <a:gdLst/>
            <a:ahLst/>
            <a:cxnLst/>
            <a:rect l="l" t="t" r="r" b="b"/>
            <a:pathLst>
              <a:path w="6994113" h="8229600">
                <a:moveTo>
                  <a:pt x="0" y="0"/>
                </a:moveTo>
                <a:lnTo>
                  <a:pt x="6994113" y="0"/>
                </a:lnTo>
                <a:lnTo>
                  <a:pt x="6994113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he-IL"/>
          </a:p>
        </p:txBody>
      </p:sp>
      <p:sp>
        <p:nvSpPr>
          <p:cNvPr id="5" name="Freeform 5"/>
          <p:cNvSpPr/>
          <p:nvPr/>
        </p:nvSpPr>
        <p:spPr>
          <a:xfrm>
            <a:off x="1028700" y="1600418"/>
            <a:ext cx="16514364" cy="7086163"/>
          </a:xfrm>
          <a:custGeom>
            <a:avLst/>
            <a:gdLst/>
            <a:ahLst/>
            <a:cxnLst/>
            <a:rect l="l" t="t" r="r" b="b"/>
            <a:pathLst>
              <a:path w="16514364" h="7086163">
                <a:moveTo>
                  <a:pt x="0" y="0"/>
                </a:moveTo>
                <a:lnTo>
                  <a:pt x="16514364" y="0"/>
                </a:lnTo>
                <a:lnTo>
                  <a:pt x="16514364" y="7086164"/>
                </a:lnTo>
                <a:lnTo>
                  <a:pt x="0" y="708616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he-IL"/>
          </a:p>
        </p:txBody>
      </p:sp>
      <p:grpSp>
        <p:nvGrpSpPr>
          <p:cNvPr id="6" name="Group 6"/>
          <p:cNvGrpSpPr/>
          <p:nvPr/>
        </p:nvGrpSpPr>
        <p:grpSpPr>
          <a:xfrm>
            <a:off x="7600950" y="9365373"/>
            <a:ext cx="3086100" cy="308610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62716" y="0"/>
                  </a:moveTo>
                  <a:lnTo>
                    <a:pt x="750084" y="0"/>
                  </a:lnTo>
                  <a:cubicBezTo>
                    <a:pt x="766717" y="0"/>
                    <a:pt x="782669" y="6608"/>
                    <a:pt x="794431" y="18369"/>
                  </a:cubicBezTo>
                  <a:cubicBezTo>
                    <a:pt x="806192" y="30131"/>
                    <a:pt x="812800" y="46083"/>
                    <a:pt x="812800" y="62716"/>
                  </a:cubicBezTo>
                  <a:lnTo>
                    <a:pt x="812800" y="750084"/>
                  </a:lnTo>
                  <a:cubicBezTo>
                    <a:pt x="812800" y="766717"/>
                    <a:pt x="806192" y="782669"/>
                    <a:pt x="794431" y="794431"/>
                  </a:cubicBezTo>
                  <a:cubicBezTo>
                    <a:pt x="782669" y="806192"/>
                    <a:pt x="766717" y="812800"/>
                    <a:pt x="750084" y="812800"/>
                  </a:cubicBezTo>
                  <a:lnTo>
                    <a:pt x="62716" y="812800"/>
                  </a:lnTo>
                  <a:cubicBezTo>
                    <a:pt x="46083" y="812800"/>
                    <a:pt x="30131" y="806192"/>
                    <a:pt x="18369" y="794431"/>
                  </a:cubicBezTo>
                  <a:cubicBezTo>
                    <a:pt x="6608" y="782669"/>
                    <a:pt x="0" y="766717"/>
                    <a:pt x="0" y="750084"/>
                  </a:cubicBezTo>
                  <a:lnTo>
                    <a:pt x="0" y="62716"/>
                  </a:lnTo>
                  <a:cubicBezTo>
                    <a:pt x="0" y="46083"/>
                    <a:pt x="6608" y="30131"/>
                    <a:pt x="18369" y="18369"/>
                  </a:cubicBezTo>
                  <a:cubicBezTo>
                    <a:pt x="30131" y="6608"/>
                    <a:pt x="46083" y="0"/>
                    <a:pt x="62716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he-IL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28575"/>
              <a:ext cx="812800" cy="784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26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-1955380" y="-134402"/>
            <a:ext cx="4198317" cy="1339997"/>
          </a:xfrm>
          <a:custGeom>
            <a:avLst/>
            <a:gdLst/>
            <a:ahLst/>
            <a:cxnLst/>
            <a:rect l="l" t="t" r="r" b="b"/>
            <a:pathLst>
              <a:path w="4198317" h="1339997">
                <a:moveTo>
                  <a:pt x="0" y="0"/>
                </a:moveTo>
                <a:lnTo>
                  <a:pt x="4198317" y="0"/>
                </a:lnTo>
                <a:lnTo>
                  <a:pt x="4198317" y="1339996"/>
                </a:lnTo>
                <a:lnTo>
                  <a:pt x="0" y="13399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he-IL"/>
          </a:p>
        </p:txBody>
      </p:sp>
      <p:sp>
        <p:nvSpPr>
          <p:cNvPr id="10" name="TextBox 10"/>
          <p:cNvSpPr txBox="1"/>
          <p:nvPr/>
        </p:nvSpPr>
        <p:spPr>
          <a:xfrm>
            <a:off x="1170631" y="3711164"/>
            <a:ext cx="16088669" cy="4193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8135"/>
              </a:lnSpc>
            </a:pPr>
            <a:endParaRPr lang="he-IL" sz="7748">
              <a:solidFill>
                <a:srgbClr val="FFFFFF"/>
              </a:solidFill>
              <a:latin typeface="Haim"/>
              <a:ea typeface="Haim"/>
              <a:cs typeface="Haim"/>
              <a:sym typeface="Haim"/>
              <a:rtl/>
            </a:endParaRPr>
          </a:p>
          <a:p>
            <a:pPr algn="ctr" rtl="1">
              <a:lnSpc>
                <a:spcPts val="8135"/>
              </a:lnSpc>
            </a:pPr>
            <a:r>
              <a:rPr lang="he-IL" sz="7748">
                <a:solidFill>
                  <a:srgbClr val="FFFFFF"/>
                </a:solidFill>
                <a:latin typeface="Haim"/>
                <a:ea typeface="Haim"/>
                <a:cs typeface="Haim"/>
                <a:sym typeface="Haim"/>
                <a:rtl/>
              </a:rPr>
              <a:t>ברוכים הבאים לקורס</a:t>
            </a:r>
            <a:endParaRPr lang="en-US" sz="7748">
              <a:solidFill>
                <a:srgbClr val="FFFFFF"/>
              </a:solidFill>
              <a:latin typeface="Haim"/>
              <a:ea typeface="Haim"/>
              <a:cs typeface="Haim"/>
              <a:sym typeface="Haim"/>
            </a:endParaRPr>
          </a:p>
          <a:p>
            <a:pPr algn="ctr" rtl="1">
              <a:lnSpc>
                <a:spcPts val="8135"/>
              </a:lnSpc>
            </a:pPr>
            <a:endParaRPr lang="he-IL" sz="7748">
              <a:solidFill>
                <a:srgbClr val="FFFFFF"/>
              </a:solidFill>
              <a:latin typeface="Haim"/>
              <a:ea typeface="Haim"/>
              <a:cs typeface="Haim"/>
              <a:sym typeface="Haim"/>
              <a:rtl/>
            </a:endParaRPr>
          </a:p>
          <a:p>
            <a:pPr algn="ctr">
              <a:lnSpc>
                <a:spcPts val="8135"/>
              </a:lnSpc>
            </a:pPr>
            <a:endParaRPr lang="he-IL" sz="7748">
              <a:solidFill>
                <a:srgbClr val="FFFFFF"/>
              </a:solidFill>
              <a:latin typeface="Haim"/>
              <a:ea typeface="Haim"/>
              <a:cs typeface="Haim"/>
              <a:sym typeface="Haim"/>
              <a:rtl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8245241" y="9751450"/>
            <a:ext cx="1684932" cy="2331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26"/>
              </a:lnSpc>
            </a:pPr>
            <a:r>
              <a:rPr lang="en-US" sz="1739" b="1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PAGE 1</a:t>
            </a:r>
          </a:p>
        </p:txBody>
      </p:sp>
      <p:sp>
        <p:nvSpPr>
          <p:cNvPr id="12" name="TextBox 10">
            <a:extLst>
              <a:ext uri="{FF2B5EF4-FFF2-40B4-BE49-F238E27FC236}">
                <a16:creationId xmlns:a16="http://schemas.microsoft.com/office/drawing/2014/main" id="{E607F66E-C8C3-FFEC-9C26-B03F36120BCC}"/>
              </a:ext>
            </a:extLst>
          </p:cNvPr>
          <p:cNvSpPr txBox="1"/>
          <p:nvPr/>
        </p:nvSpPr>
        <p:spPr>
          <a:xfrm>
            <a:off x="1028700" y="469080"/>
            <a:ext cx="16514364" cy="10098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135"/>
              </a:lnSpc>
            </a:pPr>
            <a:r>
              <a:rPr lang="he-IL" sz="6000">
                <a:solidFill>
                  <a:srgbClr val="FFFFFF"/>
                </a:solidFill>
                <a:latin typeface="Haim"/>
                <a:ea typeface="Haim"/>
                <a:cs typeface="Haim"/>
                <a:sym typeface="Haim"/>
                <a:rtl/>
              </a:rPr>
              <a:t>תכנות אלגוריתמים מחקריים</a:t>
            </a:r>
          </a:p>
        </p:txBody>
      </p:sp>
      <p:sp>
        <p:nvSpPr>
          <p:cNvPr id="14" name="TextBox 11">
            <a:extLst>
              <a:ext uri="{FF2B5EF4-FFF2-40B4-BE49-F238E27FC236}">
                <a16:creationId xmlns:a16="http://schemas.microsoft.com/office/drawing/2014/main" id="{2BCFECAD-6922-04FB-4156-FDCDA18A316C}"/>
              </a:ext>
            </a:extLst>
          </p:cNvPr>
          <p:cNvSpPr txBox="1"/>
          <p:nvPr/>
        </p:nvSpPr>
        <p:spPr>
          <a:xfrm>
            <a:off x="1028700" y="7962900"/>
            <a:ext cx="16421099" cy="3731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2624"/>
              </a:lnSpc>
              <a:spcBef>
                <a:spcPct val="0"/>
              </a:spcBef>
            </a:pPr>
            <a:r>
              <a:rPr lang="he-IL" sz="3200" u="none" strike="noStrike" dirty="0">
                <a:solidFill>
                  <a:srgbClr val="FFFFFF"/>
                </a:solidFill>
                <a:latin typeface="Haim"/>
                <a:ea typeface="Haim"/>
                <a:cs typeface="Haim"/>
                <a:sym typeface="Haim"/>
                <a:rtl/>
              </a:rPr>
              <a:t>פרופ' אראל </a:t>
            </a:r>
            <a:r>
              <a:rPr lang="he-IL" sz="3200" u="none" strike="noStrike">
                <a:solidFill>
                  <a:srgbClr val="FFFFFF"/>
                </a:solidFill>
                <a:latin typeface="Haim"/>
                <a:ea typeface="Haim"/>
                <a:cs typeface="Haim"/>
                <a:sym typeface="Haim"/>
                <a:rtl/>
              </a:rPr>
              <a:t>סגל הלוי - </a:t>
            </a:r>
            <a:r>
              <a:rPr lang="he-IL" sz="3200" u="none" strike="noStrike" dirty="0">
                <a:solidFill>
                  <a:srgbClr val="FFFFFF"/>
                </a:solidFill>
                <a:latin typeface="Haim"/>
                <a:ea typeface="Haim"/>
                <a:cs typeface="Haim"/>
                <a:sym typeface="Haim"/>
                <a:rtl/>
              </a:rPr>
              <a:t>המחלקה למדעי המחשב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"/>
          <p:cNvSpPr txBox="1"/>
          <p:nvPr/>
        </p:nvSpPr>
        <p:spPr>
          <a:xfrm>
            <a:off x="3735141" y="571500"/>
            <a:ext cx="10817715" cy="1615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7500" b="1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קורסי אלגוריתמים</a:t>
            </a:r>
            <a:endParaRPr sz="7500" b="1" i="0" u="none" strike="noStrike" cap="none" dirty="0">
              <a:solidFill>
                <a:srgbClr val="081D3F"/>
              </a:solidFill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pic>
        <p:nvPicPr>
          <p:cNvPr id="166" name="Google Shape;166;p2" descr="מדיניות פרטיות - מערכת בגרויות אוניברסיטת אריאל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8600" y="107143"/>
            <a:ext cx="1676400" cy="92871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27;p2">
            <a:extLst>
              <a:ext uri="{FF2B5EF4-FFF2-40B4-BE49-F238E27FC236}">
                <a16:creationId xmlns:a16="http://schemas.microsoft.com/office/drawing/2014/main" id="{21B61C03-3DC4-5AD4-A107-9A18E7FFADF4}"/>
              </a:ext>
            </a:extLst>
          </p:cNvPr>
          <p:cNvSpPr txBox="1"/>
          <p:nvPr/>
        </p:nvSpPr>
        <p:spPr>
          <a:xfrm>
            <a:off x="1702422" y="2365746"/>
            <a:ext cx="16325383" cy="2585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143000" marR="0" lvl="0" indent="-114300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אלגוריתמים 1 – כ-50 אלגוריתמים?</a:t>
            </a:r>
          </a:p>
          <a:p>
            <a:pPr marL="1143000" marR="0" lvl="0" indent="-114300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e-IL" sz="6000" i="0" u="none" strike="noStrike" cap="none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אלגוריתמים 2</a:t>
            </a: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– כ-100 אלגוריתמים?</a:t>
            </a:r>
            <a:endParaRPr sz="6000" i="0" u="none" strike="noStrike" cap="none" dirty="0">
              <a:solidFill>
                <a:srgbClr val="081D3F"/>
              </a:solidFill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223551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>
          <a:extLst>
            <a:ext uri="{FF2B5EF4-FFF2-40B4-BE49-F238E27FC236}">
              <a16:creationId xmlns:a16="http://schemas.microsoft.com/office/drawing/2014/main" id="{B48E64C0-D0F5-F0C0-7D41-F8E6AB9B4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">
            <a:extLst>
              <a:ext uri="{FF2B5EF4-FFF2-40B4-BE49-F238E27FC236}">
                <a16:creationId xmlns:a16="http://schemas.microsoft.com/office/drawing/2014/main" id="{7EE46CA1-F3CE-F7C1-6E18-025EA9556E80}"/>
              </a:ext>
            </a:extLst>
          </p:cNvPr>
          <p:cNvSpPr txBox="1"/>
          <p:nvPr/>
        </p:nvSpPr>
        <p:spPr>
          <a:xfrm>
            <a:off x="3735141" y="571500"/>
            <a:ext cx="10817715" cy="1615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7500" b="1" i="0" u="none" strike="noStrike" cap="none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מאיפה באים האלגוריתמים?</a:t>
            </a:r>
            <a:endParaRPr sz="7500" b="1" i="0" u="none" strike="noStrike" cap="none" dirty="0">
              <a:solidFill>
                <a:srgbClr val="081D3F"/>
              </a:solidFill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4" name="Google Shape;127;p2">
            <a:extLst>
              <a:ext uri="{FF2B5EF4-FFF2-40B4-BE49-F238E27FC236}">
                <a16:creationId xmlns:a16="http://schemas.microsoft.com/office/drawing/2014/main" id="{A88D4015-2CD7-A919-3180-AB1A1118D110}"/>
              </a:ext>
            </a:extLst>
          </p:cNvPr>
          <p:cNvSpPr txBox="1"/>
          <p:nvPr/>
        </p:nvSpPr>
        <p:spPr>
          <a:xfrm>
            <a:off x="1702422" y="2365746"/>
            <a:ext cx="16325383" cy="77559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R="0" lvl="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he-IL" sz="6000" i="0" u="none" strike="noStrike" cap="none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רוב האלגוריתמים שלמדתם התפרסמו לפני-כן במאמר:</a:t>
            </a:r>
          </a:p>
          <a:p>
            <a:pPr marL="1600200" lvl="1" indent="-1143000" algn="r" rtl="1">
              <a:lnSpc>
                <a:spcPct val="140000"/>
              </a:lnSpc>
              <a:buFont typeface="+mj-lt"/>
              <a:buAutoNum type="arabicPeriod"/>
            </a:pPr>
            <a:r>
              <a:rPr lang="he-IL" sz="6000" i="0" u="none" strike="noStrike" cap="none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המחברים כתבו את האלגוריתם ושלחו לכתב-עת;</a:t>
            </a:r>
          </a:p>
          <a:p>
            <a:pPr marL="1600200" lvl="1" indent="-1143000" algn="r" rtl="1">
              <a:lnSpc>
                <a:spcPct val="140000"/>
              </a:lnSpc>
              <a:buFont typeface="+mj-lt"/>
              <a:buAutoNum type="arabicPeriod"/>
            </a:pP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עורכי כתב-העת שלחו אותו למומחים לשיפוט; </a:t>
            </a:r>
          </a:p>
          <a:p>
            <a:pPr marL="1600200" lvl="1" indent="-1143000" algn="r" rtl="1">
              <a:lnSpc>
                <a:spcPct val="140000"/>
              </a:lnSpc>
              <a:buFont typeface="+mj-lt"/>
              <a:buAutoNum type="arabicPeriod"/>
            </a:pPr>
            <a:r>
              <a:rPr lang="he-IL" sz="6000" i="0" u="none" strike="noStrike" cap="none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המומחים קראו, בדקו ואישרו שהמאמר תקין;</a:t>
            </a:r>
          </a:p>
          <a:p>
            <a:pPr marL="1600200" lvl="1" indent="-1143000" algn="r" rtl="1">
              <a:lnSpc>
                <a:spcPct val="140000"/>
              </a:lnSpc>
              <a:buFont typeface="+mj-lt"/>
              <a:buAutoNum type="arabicPeriod"/>
            </a:pP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המאמר התפרסם בכתב-העת;  [... לאחר זמן ...]</a:t>
            </a:r>
          </a:p>
          <a:p>
            <a:pPr marL="1600200" lvl="1" indent="-1143000" algn="r" rtl="1">
              <a:lnSpc>
                <a:spcPct val="140000"/>
              </a:lnSpc>
              <a:buFont typeface="+mj-lt"/>
              <a:buAutoNum type="arabicPeriod"/>
            </a:pPr>
            <a:r>
              <a:rPr lang="he-IL" sz="6000" i="0" u="none" strike="noStrike" cap="none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המאמר נכנס לספרי-לימוד ולתוכנית הלימודים.</a:t>
            </a:r>
          </a:p>
        </p:txBody>
      </p:sp>
      <p:pic>
        <p:nvPicPr>
          <p:cNvPr id="2" name="Google Shape;166;p2" descr="מדיניות פרטיות - מערכת בגרויות אוניברסיטת אריאל">
            <a:extLst>
              <a:ext uri="{FF2B5EF4-FFF2-40B4-BE49-F238E27FC236}">
                <a16:creationId xmlns:a16="http://schemas.microsoft.com/office/drawing/2014/main" id="{1A64C0BE-6EF3-F56B-20AB-8445D17A1EE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8600" y="107143"/>
            <a:ext cx="1676400" cy="92871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87310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>
          <a:extLst>
            <a:ext uri="{FF2B5EF4-FFF2-40B4-BE49-F238E27FC236}">
              <a16:creationId xmlns:a16="http://schemas.microsoft.com/office/drawing/2014/main" id="{98AD89A4-26A3-6656-6C90-84F786020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">
            <a:extLst>
              <a:ext uri="{FF2B5EF4-FFF2-40B4-BE49-F238E27FC236}">
                <a16:creationId xmlns:a16="http://schemas.microsoft.com/office/drawing/2014/main" id="{1F783BFF-D03A-3BA1-DFAB-8205C66AD24C}"/>
              </a:ext>
            </a:extLst>
          </p:cNvPr>
          <p:cNvSpPr txBox="1"/>
          <p:nvPr/>
        </p:nvSpPr>
        <p:spPr>
          <a:xfrm>
            <a:off x="3735141" y="571500"/>
            <a:ext cx="12571659" cy="1615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7500" b="1" i="0" u="none" strike="noStrike" cap="none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מאיפה באים האלגוריתמים? - דוגמה</a:t>
            </a:r>
            <a:endParaRPr sz="7500" b="1" i="0" u="none" strike="noStrike" cap="none" dirty="0">
              <a:solidFill>
                <a:srgbClr val="081D3F"/>
              </a:solidFill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4" name="Google Shape;127;p2">
            <a:extLst>
              <a:ext uri="{FF2B5EF4-FFF2-40B4-BE49-F238E27FC236}">
                <a16:creationId xmlns:a16="http://schemas.microsoft.com/office/drawing/2014/main" id="{3058EF34-1E9F-7E94-47CF-7852481D528D}"/>
              </a:ext>
            </a:extLst>
          </p:cNvPr>
          <p:cNvSpPr txBox="1"/>
          <p:nvPr/>
        </p:nvSpPr>
        <p:spPr>
          <a:xfrm>
            <a:off x="1702422" y="2365746"/>
            <a:ext cx="16325383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R="0" lvl="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חידה:</a:t>
            </a:r>
            <a:r>
              <a:rPr lang="en-US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איזה אלגוריתם פורסם </a:t>
            </a: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  <a:hlinkClick r:id="rId3"/>
              </a:rPr>
              <a:t>במאמר הבא</a:t>
            </a: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משנת 1959?</a:t>
            </a:r>
            <a:endParaRPr sz="6000" i="0" u="none" strike="noStrike" cap="none" dirty="0">
              <a:solidFill>
                <a:srgbClr val="081D3F"/>
              </a:solidFill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pic>
        <p:nvPicPr>
          <p:cNvPr id="2" name="Google Shape;166;p2" descr="מדיניות פרטיות - מערכת בגרויות אוניברסיטת אריאל">
            <a:extLst>
              <a:ext uri="{FF2B5EF4-FFF2-40B4-BE49-F238E27FC236}">
                <a16:creationId xmlns:a16="http://schemas.microsoft.com/office/drawing/2014/main" id="{2A908C1B-7BDE-6C3F-1C65-205BD2F802E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8600" y="107143"/>
            <a:ext cx="1676400" cy="92871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93221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>
          <a:extLst>
            <a:ext uri="{FF2B5EF4-FFF2-40B4-BE49-F238E27FC236}">
              <a16:creationId xmlns:a16="http://schemas.microsoft.com/office/drawing/2014/main" id="{3CA5C4AD-1891-A3F5-2670-8F631FCB9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">
            <a:extLst>
              <a:ext uri="{FF2B5EF4-FFF2-40B4-BE49-F238E27FC236}">
                <a16:creationId xmlns:a16="http://schemas.microsoft.com/office/drawing/2014/main" id="{428AF42B-BB57-5B52-4284-14A1A2CA19A8}"/>
              </a:ext>
            </a:extLst>
          </p:cNvPr>
          <p:cNvSpPr txBox="1"/>
          <p:nvPr/>
        </p:nvSpPr>
        <p:spPr>
          <a:xfrm>
            <a:off x="3735141" y="571500"/>
            <a:ext cx="10817715" cy="1615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7500" b="1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אלגוריתמים מחקריים</a:t>
            </a:r>
            <a:endParaRPr sz="7500" b="1" i="0" u="none" strike="noStrike" cap="none" dirty="0">
              <a:solidFill>
                <a:srgbClr val="081D3F"/>
              </a:solidFill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4" name="Google Shape;127;p2">
            <a:extLst>
              <a:ext uri="{FF2B5EF4-FFF2-40B4-BE49-F238E27FC236}">
                <a16:creationId xmlns:a16="http://schemas.microsoft.com/office/drawing/2014/main" id="{1C20CBEF-F1B7-53CA-5931-0640DB5C8917}"/>
              </a:ext>
            </a:extLst>
          </p:cNvPr>
          <p:cNvSpPr txBox="1"/>
          <p:nvPr/>
        </p:nvSpPr>
        <p:spPr>
          <a:xfrm>
            <a:off x="1702422" y="2365746"/>
            <a:ext cx="16325383" cy="77559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143000" marR="0" lvl="0" indent="-114300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בשנת 2025 </a:t>
            </a: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  <a:hlinkClick r:id="rId3"/>
              </a:rPr>
              <a:t>התפרסמו מעל 22,000 אלגוריתמים חדשים</a:t>
            </a: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בפרסומים מדעיים.</a:t>
            </a:r>
          </a:p>
          <a:p>
            <a:pPr marL="1771650" lvl="2" indent="-857250" algn="r" rtl="1">
              <a:lnSpc>
                <a:spcPct val="140000"/>
              </a:lnSpc>
              <a:buFont typeface="Wingdings" panose="05000000000000000000" pitchFamily="2" charset="2"/>
              <a:buChar char="ß"/>
            </a:pPr>
            <a:r>
              <a:rPr lang="he-IL" sz="6000" i="0" u="none" strike="noStrike" cap="none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מעל 60 אלגוריתמים חדשים ליום!</a:t>
            </a:r>
            <a:endParaRPr lang="he-IL" sz="6000" dirty="0">
              <a:solidFill>
                <a:srgbClr val="081D3F"/>
              </a:solidFill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marL="857250" indent="-857250" algn="r" rtl="1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אלגוריתמים לפתרון </a:t>
            </a:r>
            <a:r>
              <a:rPr lang="he-IL" sz="6000" b="1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בעיות חדשות</a:t>
            </a: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;</a:t>
            </a:r>
          </a:p>
          <a:p>
            <a:pPr marL="857250" indent="-857250" algn="r" rtl="1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אלגוריתמים לפתרון </a:t>
            </a:r>
            <a:r>
              <a:rPr lang="he-IL" sz="6000" b="1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יעיל יותר</a:t>
            </a: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לבעיות קיימות.</a:t>
            </a:r>
          </a:p>
          <a:p>
            <a:pPr marL="857250" indent="-857250" algn="r" rtl="1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חלק גדול מהאלגוריתמים כתובים "על הנייר"</a:t>
            </a:r>
            <a:r>
              <a:rPr lang="en-US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בלבד.</a:t>
            </a:r>
            <a:endParaRPr lang="he-IL" sz="6000" dirty="0">
              <a:solidFill>
                <a:srgbClr val="081D3F"/>
              </a:solidFill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pic>
        <p:nvPicPr>
          <p:cNvPr id="2" name="Google Shape;166;p2" descr="מדיניות פרטיות - מערכת בגרויות אוניברסיטת אריאל">
            <a:extLst>
              <a:ext uri="{FF2B5EF4-FFF2-40B4-BE49-F238E27FC236}">
                <a16:creationId xmlns:a16="http://schemas.microsoft.com/office/drawing/2014/main" id="{F9DCCE34-568B-FF9B-D3B9-F0E356B7A3B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8600" y="107143"/>
            <a:ext cx="1676400" cy="92871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502076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>
          <a:extLst>
            <a:ext uri="{FF2B5EF4-FFF2-40B4-BE49-F238E27FC236}">
              <a16:creationId xmlns:a16="http://schemas.microsoft.com/office/drawing/2014/main" id="{C36C4C39-A8D1-82B5-B069-7C1952949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">
            <a:extLst>
              <a:ext uri="{FF2B5EF4-FFF2-40B4-BE49-F238E27FC236}">
                <a16:creationId xmlns:a16="http://schemas.microsoft.com/office/drawing/2014/main" id="{9AD5B405-BFF9-0354-698B-6E9CB7465AFB}"/>
              </a:ext>
            </a:extLst>
          </p:cNvPr>
          <p:cNvSpPr txBox="1"/>
          <p:nvPr/>
        </p:nvSpPr>
        <p:spPr>
          <a:xfrm>
            <a:off x="3735141" y="571500"/>
            <a:ext cx="10817715" cy="1615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7500" b="1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מטרת הקורס</a:t>
            </a:r>
            <a:endParaRPr sz="7500" b="1" i="0" u="none" strike="noStrike" cap="none" dirty="0">
              <a:solidFill>
                <a:srgbClr val="081D3F"/>
              </a:solidFill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4" name="Google Shape;127;p2">
            <a:extLst>
              <a:ext uri="{FF2B5EF4-FFF2-40B4-BE49-F238E27FC236}">
                <a16:creationId xmlns:a16="http://schemas.microsoft.com/office/drawing/2014/main" id="{D2BAC742-E360-702C-4DA0-2F4FDE513CA7}"/>
              </a:ext>
            </a:extLst>
          </p:cNvPr>
          <p:cNvSpPr txBox="1"/>
          <p:nvPr/>
        </p:nvSpPr>
        <p:spPr>
          <a:xfrm>
            <a:off x="1984917" y="2365746"/>
            <a:ext cx="16042888" cy="2585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R="0" lvl="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ללמוד לקרוא, להבין, </a:t>
            </a:r>
            <a:r>
              <a:rPr lang="he-IL" sz="6000" b="1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ולתכנת </a:t>
            </a: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אלגוריתמים המתפרסמים במאמרים מחקריים.</a:t>
            </a:r>
          </a:p>
        </p:txBody>
      </p:sp>
      <p:pic>
        <p:nvPicPr>
          <p:cNvPr id="2" name="Google Shape;166;p2" descr="מדיניות פרטיות - מערכת בגרויות אוניברסיטת אריאל">
            <a:extLst>
              <a:ext uri="{FF2B5EF4-FFF2-40B4-BE49-F238E27FC236}">
                <a16:creationId xmlns:a16="http://schemas.microsoft.com/office/drawing/2014/main" id="{586C5BB0-5A85-DE62-6BFA-D185052AA4E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8600" y="107143"/>
            <a:ext cx="1676400" cy="92871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879677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>
          <a:extLst>
            <a:ext uri="{FF2B5EF4-FFF2-40B4-BE49-F238E27FC236}">
              <a16:creationId xmlns:a16="http://schemas.microsoft.com/office/drawing/2014/main" id="{3A5CF850-E69E-EC98-F272-269DFD0B7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">
            <a:extLst>
              <a:ext uri="{FF2B5EF4-FFF2-40B4-BE49-F238E27FC236}">
                <a16:creationId xmlns:a16="http://schemas.microsoft.com/office/drawing/2014/main" id="{BA8C87AF-BD83-2BB9-1D32-F5D6BD943393}"/>
              </a:ext>
            </a:extLst>
          </p:cNvPr>
          <p:cNvSpPr txBox="1"/>
          <p:nvPr/>
        </p:nvSpPr>
        <p:spPr>
          <a:xfrm>
            <a:off x="3735141" y="387500"/>
            <a:ext cx="10817715" cy="1615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7500" b="1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למי זה מתאים?</a:t>
            </a:r>
            <a:endParaRPr sz="7500" b="1" i="0" u="none" strike="noStrike" cap="none" dirty="0">
              <a:solidFill>
                <a:srgbClr val="081D3F"/>
              </a:solidFill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4" name="Google Shape;127;p2">
            <a:extLst>
              <a:ext uri="{FF2B5EF4-FFF2-40B4-BE49-F238E27FC236}">
                <a16:creationId xmlns:a16="http://schemas.microsoft.com/office/drawing/2014/main" id="{8BD44369-2964-E7D1-5624-442B4D559E29}"/>
              </a:ext>
            </a:extLst>
          </p:cNvPr>
          <p:cNvSpPr txBox="1"/>
          <p:nvPr/>
        </p:nvSpPr>
        <p:spPr>
          <a:xfrm>
            <a:off x="1940312" y="1795860"/>
            <a:ext cx="16042888" cy="38779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R="0" lvl="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הכישרון לתכנת אלגוריתמים מחקריים יעזור לכם אם:</a:t>
            </a:r>
          </a:p>
          <a:p>
            <a:pPr marL="857250" marR="0" lvl="0" indent="-85725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תמשיכו ללמוד לתואר שני ומעלה – לחקור בעצמכם;</a:t>
            </a:r>
          </a:p>
          <a:p>
            <a:pPr marL="857250" marR="0" lvl="0" indent="-85725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תגיעו למשרת מחקר בחברה גדולה </a:t>
            </a:r>
            <a:r>
              <a:rPr lang="he-IL" sz="54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(</a:t>
            </a:r>
            <a:r>
              <a:rPr lang="he-IL" sz="54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  <a:hlinkClick r:id="rId3"/>
              </a:rPr>
              <a:t>גוגל</a:t>
            </a:r>
            <a:r>
              <a:rPr lang="he-IL" sz="54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, </a:t>
            </a:r>
            <a:r>
              <a:rPr lang="he-IL" sz="54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  <a:hlinkClick r:id="rId4"/>
              </a:rPr>
              <a:t>יבמ</a:t>
            </a:r>
            <a:r>
              <a:rPr lang="he-IL" sz="54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, </a:t>
            </a:r>
            <a:r>
              <a:rPr lang="he-IL" sz="54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  <a:hlinkClick r:id="rId5"/>
              </a:rPr>
              <a:t>פייסבוק</a:t>
            </a:r>
            <a:r>
              <a:rPr lang="he-IL" sz="54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...)</a:t>
            </a:r>
            <a:endParaRPr lang="he-IL" sz="6000">
              <a:solidFill>
                <a:srgbClr val="081D3F"/>
              </a:solidFill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5" name="Google Shape;127;p2">
            <a:extLst>
              <a:ext uri="{FF2B5EF4-FFF2-40B4-BE49-F238E27FC236}">
                <a16:creationId xmlns:a16="http://schemas.microsoft.com/office/drawing/2014/main" id="{3794199F-BA4B-29BD-D039-6A93C5866795}"/>
              </a:ext>
            </a:extLst>
          </p:cNvPr>
          <p:cNvSpPr txBox="1"/>
          <p:nvPr/>
        </p:nvSpPr>
        <p:spPr>
          <a:xfrm>
            <a:off x="3735141" y="5754691"/>
            <a:ext cx="10817715" cy="1615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7500" b="1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הכישורים הדרושים</a:t>
            </a:r>
            <a:endParaRPr sz="7500" b="1" i="0" u="none" strike="noStrike" cap="none" dirty="0">
              <a:solidFill>
                <a:srgbClr val="081D3F"/>
              </a:solidFill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6" name="Google Shape;127;p2">
            <a:extLst>
              <a:ext uri="{FF2B5EF4-FFF2-40B4-BE49-F238E27FC236}">
                <a16:creationId xmlns:a16="http://schemas.microsoft.com/office/drawing/2014/main" id="{2EDAAF21-7A6E-5A9A-4F09-D0FD841F6C0E}"/>
              </a:ext>
            </a:extLst>
          </p:cNvPr>
          <p:cNvSpPr txBox="1"/>
          <p:nvPr/>
        </p:nvSpPr>
        <p:spPr>
          <a:xfrm>
            <a:off x="1940312" y="7130177"/>
            <a:ext cx="16042888" cy="2585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143000" marR="0" lvl="0" indent="-114300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e-IL" sz="6000" b="1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אלגוריתמים </a:t>
            </a: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(- ציון גבוה באלגוריתמים 1+2)</a:t>
            </a:r>
          </a:p>
          <a:p>
            <a:pPr marL="1143000" marR="0" lvl="0" indent="-114300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e-IL" sz="6000" b="1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תיכנות </a:t>
            </a: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(- ציון גבוה בקורסי התיכנות)</a:t>
            </a:r>
          </a:p>
        </p:txBody>
      </p:sp>
      <p:pic>
        <p:nvPicPr>
          <p:cNvPr id="2" name="Google Shape;166;p2" descr="מדיניות פרטיות - מערכת בגרויות אוניברסיטת אריאל">
            <a:extLst>
              <a:ext uri="{FF2B5EF4-FFF2-40B4-BE49-F238E27FC236}">
                <a16:creationId xmlns:a16="http://schemas.microsoft.com/office/drawing/2014/main" id="{E7035B1E-39D9-AFE6-75D4-F89E382F0808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28600" y="107143"/>
            <a:ext cx="1676400" cy="92871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35503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>
          <a:extLst>
            <a:ext uri="{FF2B5EF4-FFF2-40B4-BE49-F238E27FC236}">
              <a16:creationId xmlns:a16="http://schemas.microsoft.com/office/drawing/2014/main" id="{4A0EE2B4-0316-3113-A926-AC2C80D48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">
            <a:extLst>
              <a:ext uri="{FF2B5EF4-FFF2-40B4-BE49-F238E27FC236}">
                <a16:creationId xmlns:a16="http://schemas.microsoft.com/office/drawing/2014/main" id="{4C824D31-2764-A1F9-E763-48E283F2919C}"/>
              </a:ext>
            </a:extLst>
          </p:cNvPr>
          <p:cNvSpPr txBox="1"/>
          <p:nvPr/>
        </p:nvSpPr>
        <p:spPr>
          <a:xfrm>
            <a:off x="3735141" y="387500"/>
            <a:ext cx="10817715" cy="1615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7500" b="1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למי זה מתאים?</a:t>
            </a:r>
            <a:endParaRPr sz="7500" b="1" i="0" u="none" strike="noStrike" cap="none" dirty="0">
              <a:solidFill>
                <a:srgbClr val="081D3F"/>
              </a:solidFill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4" name="Google Shape;127;p2">
            <a:extLst>
              <a:ext uri="{FF2B5EF4-FFF2-40B4-BE49-F238E27FC236}">
                <a16:creationId xmlns:a16="http://schemas.microsoft.com/office/drawing/2014/main" id="{F9A6C2DF-854A-44B5-8B76-D00EF990F369}"/>
              </a:ext>
            </a:extLst>
          </p:cNvPr>
          <p:cNvSpPr txBox="1"/>
          <p:nvPr/>
        </p:nvSpPr>
        <p:spPr>
          <a:xfrm>
            <a:off x="1940312" y="1795860"/>
            <a:ext cx="16042888" cy="38779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R="0" lvl="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הכישרון לתכנת אלגוריתמים מחקריים יעזור לכם אם:</a:t>
            </a:r>
          </a:p>
          <a:p>
            <a:pPr marL="857250" marR="0" lvl="0" indent="-85725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תמשיכו ללמוד לתואר שני ומעלה – לחקור בעצמכם;</a:t>
            </a:r>
          </a:p>
          <a:p>
            <a:pPr marL="857250" marR="0" lvl="0" indent="-85725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תגיעו למשרת מחקר בחברה גדולה </a:t>
            </a:r>
            <a:r>
              <a:rPr lang="he-IL" sz="54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(</a:t>
            </a:r>
            <a:r>
              <a:rPr lang="he-IL" sz="54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  <a:hlinkClick r:id="rId3"/>
              </a:rPr>
              <a:t>גוגל</a:t>
            </a:r>
            <a:r>
              <a:rPr lang="he-IL" sz="54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, </a:t>
            </a:r>
            <a:r>
              <a:rPr lang="he-IL" sz="54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  <a:hlinkClick r:id="rId4"/>
              </a:rPr>
              <a:t>יבמ</a:t>
            </a:r>
            <a:r>
              <a:rPr lang="he-IL" sz="54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, </a:t>
            </a:r>
            <a:r>
              <a:rPr lang="he-IL" sz="54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  <a:hlinkClick r:id="rId5"/>
              </a:rPr>
              <a:t>פייסבוק</a:t>
            </a:r>
            <a:r>
              <a:rPr lang="he-IL" sz="54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...)</a:t>
            </a:r>
            <a:endParaRPr lang="he-IL" sz="6000">
              <a:solidFill>
                <a:srgbClr val="081D3F"/>
              </a:solidFill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5" name="Google Shape;127;p2">
            <a:extLst>
              <a:ext uri="{FF2B5EF4-FFF2-40B4-BE49-F238E27FC236}">
                <a16:creationId xmlns:a16="http://schemas.microsoft.com/office/drawing/2014/main" id="{5C8FC565-6F2F-6EF3-CB90-77D6BE0F8D56}"/>
              </a:ext>
            </a:extLst>
          </p:cNvPr>
          <p:cNvSpPr txBox="1"/>
          <p:nvPr/>
        </p:nvSpPr>
        <p:spPr>
          <a:xfrm>
            <a:off x="3735141" y="5754691"/>
            <a:ext cx="10817715" cy="1615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7500" b="1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הכישורים הדרושים</a:t>
            </a:r>
            <a:endParaRPr sz="7500" b="1" i="0" u="none" strike="noStrike" cap="none" dirty="0">
              <a:solidFill>
                <a:srgbClr val="081D3F"/>
              </a:solidFill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6" name="Google Shape;127;p2">
            <a:extLst>
              <a:ext uri="{FF2B5EF4-FFF2-40B4-BE49-F238E27FC236}">
                <a16:creationId xmlns:a16="http://schemas.microsoft.com/office/drawing/2014/main" id="{909DB5F3-4CD2-0A03-788C-1A08EDA02488}"/>
              </a:ext>
            </a:extLst>
          </p:cNvPr>
          <p:cNvSpPr txBox="1"/>
          <p:nvPr/>
        </p:nvSpPr>
        <p:spPr>
          <a:xfrm>
            <a:off x="1940312" y="7130177"/>
            <a:ext cx="16042888" cy="2585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143000" marR="0" lvl="0" indent="-114300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e-IL" sz="6000" b="1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אלגוריתמים </a:t>
            </a: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(- ציון גבוה באלגוריתמים 1+2)</a:t>
            </a:r>
          </a:p>
          <a:p>
            <a:pPr marL="1143000" marR="0" lvl="0" indent="-114300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e-IL" sz="6000" b="1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תיכנות </a:t>
            </a: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(- ציון גבוה בקורסי התיכנות)</a:t>
            </a:r>
          </a:p>
        </p:txBody>
      </p:sp>
      <p:pic>
        <p:nvPicPr>
          <p:cNvPr id="2" name="Google Shape;166;p2" descr="מדיניות פרטיות - מערכת בגרויות אוניברסיטת אריאל">
            <a:extLst>
              <a:ext uri="{FF2B5EF4-FFF2-40B4-BE49-F238E27FC236}">
                <a16:creationId xmlns:a16="http://schemas.microsoft.com/office/drawing/2014/main" id="{AC759A4B-F971-D590-2290-F66C9819547E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28600" y="107143"/>
            <a:ext cx="1676400" cy="92871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593813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>
          <a:extLst>
            <a:ext uri="{FF2B5EF4-FFF2-40B4-BE49-F238E27FC236}">
              <a16:creationId xmlns:a16="http://schemas.microsoft.com/office/drawing/2014/main" id="{2F3FE066-25C2-D624-A114-5F0096226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">
            <a:extLst>
              <a:ext uri="{FF2B5EF4-FFF2-40B4-BE49-F238E27FC236}">
                <a16:creationId xmlns:a16="http://schemas.microsoft.com/office/drawing/2014/main" id="{50409AE9-F1C8-33DE-C7ED-DAF0016EF2F2}"/>
              </a:ext>
            </a:extLst>
          </p:cNvPr>
          <p:cNvSpPr txBox="1"/>
          <p:nvPr/>
        </p:nvSpPr>
        <p:spPr>
          <a:xfrm>
            <a:off x="3735141" y="571500"/>
            <a:ext cx="10817715" cy="1615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7500" b="1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למי זה לא מתאים?</a:t>
            </a:r>
            <a:endParaRPr sz="7500" b="1" i="0" u="none" strike="noStrike" cap="none" dirty="0">
              <a:solidFill>
                <a:srgbClr val="081D3F"/>
              </a:solidFill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4" name="Google Shape;127;p2">
            <a:extLst>
              <a:ext uri="{FF2B5EF4-FFF2-40B4-BE49-F238E27FC236}">
                <a16:creationId xmlns:a16="http://schemas.microsoft.com/office/drawing/2014/main" id="{EBA6B96B-AA92-068A-1CBB-AE55F59CC04C}"/>
              </a:ext>
            </a:extLst>
          </p:cNvPr>
          <p:cNvSpPr txBox="1"/>
          <p:nvPr/>
        </p:nvSpPr>
        <p:spPr>
          <a:xfrm>
            <a:off x="1940312" y="2187327"/>
            <a:ext cx="16042888" cy="64633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857250" marR="0" lvl="0" indent="-85725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משרות בתחום </a:t>
            </a:r>
            <a:r>
              <a:rPr lang="en-US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Front End / Back End / Full Stack / </a:t>
            </a:r>
            <a:endParaRPr lang="he-IL" sz="6000">
              <a:solidFill>
                <a:srgbClr val="081D3F"/>
              </a:solidFill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marL="857250" marR="0" lvl="0" indent="-85725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Web Development /  Game Development…</a:t>
            </a:r>
          </a:p>
          <a:p>
            <a:pPr marL="857250" marR="0" lvl="0" indent="-85725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ציון נמוך / חוסר-חיבור לקורסי אלגוריתמים 1+2;</a:t>
            </a:r>
          </a:p>
          <a:p>
            <a:pPr marL="857250" indent="-857250" algn="r" rtl="1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ציון נמוך / חוסר-חיבור לקורסי תיכנות;</a:t>
            </a:r>
          </a:p>
          <a:p>
            <a:pPr marL="857250" indent="-857250" algn="r" rtl="1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סמסטר עמוס בקורסים או עבודה במקביל;</a:t>
            </a:r>
          </a:p>
        </p:txBody>
      </p:sp>
      <p:pic>
        <p:nvPicPr>
          <p:cNvPr id="2" name="Google Shape;166;p2" descr="מדיניות פרטיות - מערכת בגרויות אוניברסיטת אריאל">
            <a:extLst>
              <a:ext uri="{FF2B5EF4-FFF2-40B4-BE49-F238E27FC236}">
                <a16:creationId xmlns:a16="http://schemas.microsoft.com/office/drawing/2014/main" id="{B64FDEBF-4179-E54D-55D0-ED15EAFDD3E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8600" y="107143"/>
            <a:ext cx="1676400" cy="92871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931865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>
          <a:extLst>
            <a:ext uri="{FF2B5EF4-FFF2-40B4-BE49-F238E27FC236}">
              <a16:creationId xmlns:a16="http://schemas.microsoft.com/office/drawing/2014/main" id="{893CADA2-423E-B900-1615-930FB1754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">
            <a:extLst>
              <a:ext uri="{FF2B5EF4-FFF2-40B4-BE49-F238E27FC236}">
                <a16:creationId xmlns:a16="http://schemas.microsoft.com/office/drawing/2014/main" id="{893631CC-5EBF-1ACC-3C49-9129056CFDA6}"/>
              </a:ext>
            </a:extLst>
          </p:cNvPr>
          <p:cNvSpPr txBox="1"/>
          <p:nvPr/>
        </p:nvSpPr>
        <p:spPr>
          <a:xfrm>
            <a:off x="3735141" y="571500"/>
            <a:ext cx="10817715" cy="1615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7500" b="1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שלבי העבודה</a:t>
            </a:r>
            <a:endParaRPr sz="7500" b="1" i="0" u="none" strike="noStrike" cap="none" dirty="0">
              <a:solidFill>
                <a:srgbClr val="081D3F"/>
              </a:solidFill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4" name="Google Shape;127;p2">
            <a:extLst>
              <a:ext uri="{FF2B5EF4-FFF2-40B4-BE49-F238E27FC236}">
                <a16:creationId xmlns:a16="http://schemas.microsoft.com/office/drawing/2014/main" id="{7A99741F-3CA3-0E4F-BE08-43D384BC459A}"/>
              </a:ext>
            </a:extLst>
          </p:cNvPr>
          <p:cNvSpPr txBox="1"/>
          <p:nvPr/>
        </p:nvSpPr>
        <p:spPr>
          <a:xfrm>
            <a:off x="1905000" y="1866900"/>
            <a:ext cx="16042888" cy="8186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R="0" lvl="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he-IL" sz="44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0. בחירת מאמר. כמה אפשרויות:</a:t>
            </a:r>
          </a:p>
          <a:p>
            <a:pPr marL="571500" marR="0" lvl="0" indent="-57150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e-IL" sz="36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  <a:hlinkClick r:id="rId3"/>
              </a:rPr>
              <a:t>לבחור מתוך הרשימה באתר הקורס</a:t>
            </a:r>
            <a:r>
              <a:rPr lang="he-IL" sz="36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;</a:t>
            </a:r>
          </a:p>
          <a:p>
            <a:pPr marL="571500" marR="0" lvl="0" indent="-57150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e-IL" sz="36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לפנות למרצה של קורס בחירה שאהבתם;</a:t>
            </a:r>
          </a:p>
          <a:p>
            <a:pPr marL="571500" marR="0" lvl="0" indent="-57150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e-IL" sz="36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לחפש נושא שמעניין אתכם ב</a:t>
            </a:r>
            <a:r>
              <a:rPr lang="he-IL" sz="36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  <a:hlinkClick r:id="rId4"/>
              </a:rPr>
              <a:t>גוגל סקולר</a:t>
            </a:r>
            <a:r>
              <a:rPr lang="he-IL" sz="36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.</a:t>
            </a:r>
            <a:endParaRPr lang="he-IL" sz="4400">
              <a:solidFill>
                <a:srgbClr val="081D3F"/>
              </a:solidFill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marR="0" lvl="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he-IL" sz="44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1. קריאת המאמר, סיכום במילים שלכם, דוגמאות הרצה.</a:t>
            </a:r>
          </a:p>
          <a:p>
            <a:pPr marR="0" lvl="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he-IL" sz="44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2. מציאת ספריית קוד-פתוח מתאימה, כתיבת כותרות ובדיקות-יחידה.</a:t>
            </a:r>
          </a:p>
          <a:p>
            <a:pPr marR="0" lvl="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he-IL" sz="44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3. מימוש מלא.</a:t>
            </a:r>
          </a:p>
          <a:p>
            <a:pPr marR="0" lvl="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he-IL" sz="44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4. שיפור ביצועים, השוואה לאלגוריתם אחר הפותר בעיה דומה.</a:t>
            </a:r>
          </a:p>
          <a:p>
            <a:pPr marR="0" lvl="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he-IL" sz="44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5. פירסום: בקשת-משיכה +</a:t>
            </a:r>
            <a:r>
              <a:rPr lang="en-US" sz="44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lang="he-IL" sz="44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אתר אינטרנט להדגמה.</a:t>
            </a:r>
          </a:p>
        </p:txBody>
      </p:sp>
      <p:pic>
        <p:nvPicPr>
          <p:cNvPr id="2" name="Google Shape;166;p2" descr="מדיניות פרטיות - מערכת בגרויות אוניברסיטת אריאל">
            <a:extLst>
              <a:ext uri="{FF2B5EF4-FFF2-40B4-BE49-F238E27FC236}">
                <a16:creationId xmlns:a16="http://schemas.microsoft.com/office/drawing/2014/main" id="{6FBC315D-2D5E-44B2-BEC7-F6D2A1198E14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28600" y="107143"/>
            <a:ext cx="1676400" cy="92871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88374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>
          <a:extLst>
            <a:ext uri="{FF2B5EF4-FFF2-40B4-BE49-F238E27FC236}">
              <a16:creationId xmlns:a16="http://schemas.microsoft.com/office/drawing/2014/main" id="{674898F4-01C0-DC62-2480-EA2F101100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">
            <a:extLst>
              <a:ext uri="{FF2B5EF4-FFF2-40B4-BE49-F238E27FC236}">
                <a16:creationId xmlns:a16="http://schemas.microsoft.com/office/drawing/2014/main" id="{DF6FA7A3-3E45-A5A9-BADB-AF5C17EC54FF}"/>
              </a:ext>
            </a:extLst>
          </p:cNvPr>
          <p:cNvSpPr txBox="1"/>
          <p:nvPr/>
        </p:nvSpPr>
        <p:spPr>
          <a:xfrm>
            <a:off x="3735141" y="571500"/>
            <a:ext cx="10817715" cy="1615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7500" b="1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ניקוד</a:t>
            </a:r>
            <a:endParaRPr sz="7500" b="1" i="0" u="none" strike="noStrike" cap="none" dirty="0">
              <a:solidFill>
                <a:srgbClr val="081D3F"/>
              </a:solidFill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4" name="Google Shape;127;p2">
            <a:extLst>
              <a:ext uri="{FF2B5EF4-FFF2-40B4-BE49-F238E27FC236}">
                <a16:creationId xmlns:a16="http://schemas.microsoft.com/office/drawing/2014/main" id="{8D4CEC57-A7E5-6ED8-222B-8D0B4EF8C3B2}"/>
              </a:ext>
            </a:extLst>
          </p:cNvPr>
          <p:cNvSpPr txBox="1"/>
          <p:nvPr/>
        </p:nvSpPr>
        <p:spPr>
          <a:xfrm>
            <a:off x="1940312" y="2187327"/>
            <a:ext cx="16042888" cy="64633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71500" marR="0" lvl="0" indent="-57150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הגשת מטלה </a:t>
            </a:r>
            <a:r>
              <a:rPr lang="he-IL" sz="6000" b="1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שבועית</a:t>
            </a: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בנושא פייתון: 2-3 נקודות.</a:t>
            </a:r>
          </a:p>
          <a:p>
            <a:pPr marL="571500" marR="0" lvl="0" indent="-57150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הגשת מטלה </a:t>
            </a:r>
            <a:r>
              <a:rPr lang="he-IL" sz="6000" b="1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מתגלגלת</a:t>
            </a: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: 5-10 נקודות. </a:t>
            </a:r>
          </a:p>
          <a:p>
            <a:pPr marL="1028700" lvl="1" indent="-571500" algn="r" rtl="1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בסה"כ 55 נקודות על הגשת מטלות.</a:t>
            </a:r>
          </a:p>
          <a:p>
            <a:pPr marL="571500" marR="0" lvl="0" indent="-57150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הצגת מטלה בשיעור:  15 נקודות,</a:t>
            </a:r>
            <a:r>
              <a:rPr lang="en-US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עד 3 הצגות. </a:t>
            </a:r>
          </a:p>
          <a:p>
            <a:pPr marL="1028700" lvl="1" indent="-571500" algn="r" rtl="1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בסה"כ 45 נקודות על הצגת מטלות.</a:t>
            </a:r>
          </a:p>
        </p:txBody>
      </p:sp>
      <p:pic>
        <p:nvPicPr>
          <p:cNvPr id="2" name="Google Shape;166;p2" descr="מדיניות פרטיות - מערכת בגרויות אוניברסיטת אריאל">
            <a:extLst>
              <a:ext uri="{FF2B5EF4-FFF2-40B4-BE49-F238E27FC236}">
                <a16:creationId xmlns:a16="http://schemas.microsoft.com/office/drawing/2014/main" id="{EAEC8673-39AB-9DBF-7111-D742D0231FA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8600" y="107143"/>
            <a:ext cx="1676400" cy="92871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11252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>
          <a:extLst>
            <a:ext uri="{FF2B5EF4-FFF2-40B4-BE49-F238E27FC236}">
              <a16:creationId xmlns:a16="http://schemas.microsoft.com/office/drawing/2014/main" id="{99AEAEFD-BE6E-49C4-F77A-BA712A466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">
            <a:extLst>
              <a:ext uri="{FF2B5EF4-FFF2-40B4-BE49-F238E27FC236}">
                <a16:creationId xmlns:a16="http://schemas.microsoft.com/office/drawing/2014/main" id="{E02E420C-7219-6360-FDA5-503AFA30AF84}"/>
              </a:ext>
            </a:extLst>
          </p:cNvPr>
          <p:cNvSpPr txBox="1"/>
          <p:nvPr/>
        </p:nvSpPr>
        <p:spPr>
          <a:xfrm>
            <a:off x="3735141" y="571500"/>
            <a:ext cx="10817715" cy="1615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7500" b="1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חובת נוכחות</a:t>
            </a:r>
            <a:endParaRPr sz="7500" b="1" i="0" u="none" strike="noStrike" cap="none" dirty="0">
              <a:solidFill>
                <a:srgbClr val="081D3F"/>
              </a:solidFill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2" name="Google Shape;127;p2">
            <a:extLst>
              <a:ext uri="{FF2B5EF4-FFF2-40B4-BE49-F238E27FC236}">
                <a16:creationId xmlns:a16="http://schemas.microsoft.com/office/drawing/2014/main" id="{0DDD36CD-8C40-5ED6-B6EE-0C7A51892168}"/>
              </a:ext>
            </a:extLst>
          </p:cNvPr>
          <p:cNvSpPr txBox="1"/>
          <p:nvPr/>
        </p:nvSpPr>
        <p:spPr>
          <a:xfrm>
            <a:off x="1940312" y="2187327"/>
            <a:ext cx="16042888" cy="38779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R="0" lvl="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יש חובת נוכחות </a:t>
            </a:r>
            <a:r>
              <a:rPr lang="he-IL" sz="6000" b="1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בכיתה </a:t>
            </a: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במקרים הבאים:</a:t>
            </a:r>
          </a:p>
          <a:p>
            <a:pPr marL="857250" marR="0" lvl="0" indent="-85725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e-IL" sz="6000">
                <a:solidFill>
                  <a:srgbClr val="00B050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הצגת מטלות </a:t>
            </a:r>
            <a:r>
              <a:rPr lang="he-IL" sz="4000">
                <a:solidFill>
                  <a:srgbClr val="00B050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(פרט למשרתי מילואים)</a:t>
            </a:r>
          </a:p>
          <a:p>
            <a:pPr marL="857250" indent="-857250" algn="r" rtl="1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he-IL" sz="60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פתרון לא טוב של אחת המטלות </a:t>
            </a:r>
            <a:r>
              <a:rPr lang="he-IL" sz="36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(ללא שימוש בכלים שנלמדו בשיעור)</a:t>
            </a:r>
            <a:r>
              <a:rPr lang="he-IL" sz="60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.</a:t>
            </a:r>
            <a:endParaRPr lang="he-IL" sz="400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pic>
        <p:nvPicPr>
          <p:cNvPr id="3" name="Google Shape;166;p2" descr="מדיניות פרטיות - מערכת בגרויות אוניברסיטת אריאל">
            <a:extLst>
              <a:ext uri="{FF2B5EF4-FFF2-40B4-BE49-F238E27FC236}">
                <a16:creationId xmlns:a16="http://schemas.microsoft.com/office/drawing/2014/main" id="{5FBC7932-EEC0-9EFB-A33A-5FB0E5D1647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8600" y="107143"/>
            <a:ext cx="1676400" cy="92871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197017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>
          <a:extLst>
            <a:ext uri="{FF2B5EF4-FFF2-40B4-BE49-F238E27FC236}">
              <a16:creationId xmlns:a16="http://schemas.microsoft.com/office/drawing/2014/main" id="{70B8F976-00D0-172E-245F-EE31C1709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">
            <a:extLst>
              <a:ext uri="{FF2B5EF4-FFF2-40B4-BE49-F238E27FC236}">
                <a16:creationId xmlns:a16="http://schemas.microsoft.com/office/drawing/2014/main" id="{D719A07D-7E1D-57C8-665E-26782567914C}"/>
              </a:ext>
            </a:extLst>
          </p:cNvPr>
          <p:cNvSpPr txBox="1"/>
          <p:nvPr/>
        </p:nvSpPr>
        <p:spPr>
          <a:xfrm>
            <a:off x="3735142" y="-24500"/>
            <a:ext cx="10817715" cy="1615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7500" b="1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שימוש בכלי בינה מלאכותית</a:t>
            </a:r>
            <a:endParaRPr sz="7500" b="1" i="0" u="none" strike="noStrike" cap="none" dirty="0">
              <a:solidFill>
                <a:srgbClr val="081D3F"/>
              </a:solidFill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2" name="Google Shape;127;p2">
            <a:extLst>
              <a:ext uri="{FF2B5EF4-FFF2-40B4-BE49-F238E27FC236}">
                <a16:creationId xmlns:a16="http://schemas.microsoft.com/office/drawing/2014/main" id="{E10FD80E-768C-0E1B-43BF-3D9CA0F37BCD}"/>
              </a:ext>
            </a:extLst>
          </p:cNvPr>
          <p:cNvSpPr txBox="1"/>
          <p:nvPr/>
        </p:nvSpPr>
        <p:spPr>
          <a:xfrm>
            <a:off x="1940312" y="1394938"/>
            <a:ext cx="16042888" cy="9048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857250" marR="0" lvl="0" indent="-85725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במטלות השבועיות (בנושא פייתון) – </a:t>
            </a:r>
            <a:r>
              <a:rPr lang="he-IL" sz="6000" b="1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אסור</a:t>
            </a:r>
            <a:r>
              <a:rPr lang="he-IL" sz="6000" b="1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להשתמש בכלי ב"מ, כי המטרה היא לתרגל פייתון.</a:t>
            </a:r>
          </a:p>
          <a:p>
            <a:pPr marL="857250" marR="0" lvl="0" indent="-85725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במטלה המתגלגלת (תיכנות המאמר)</a:t>
            </a:r>
            <a:r>
              <a:rPr lang="en-US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– </a:t>
            </a:r>
            <a:r>
              <a:rPr lang="he-IL" sz="6000" b="1">
                <a:solidFill>
                  <a:srgbClr val="00B050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מותר </a:t>
            </a: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להשתמש בכלי ב"מ, אבל:</a:t>
            </a:r>
          </a:p>
          <a:p>
            <a:pPr marL="1314450" lvl="1" indent="-857250" algn="r" rtl="1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he-IL" sz="6000" b="1">
                <a:solidFill>
                  <a:srgbClr val="0070C0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חובה</a:t>
            </a:r>
            <a:r>
              <a:rPr lang="he-IL" sz="6000" b="1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לבדוק ולהבין את כל התשובות – אתם אחראים!</a:t>
            </a:r>
          </a:p>
          <a:p>
            <a:pPr marL="1314450" lvl="1" indent="-857250" algn="r" rtl="1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he-IL" sz="6000" b="1">
                <a:solidFill>
                  <a:srgbClr val="0070C0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חובה</a:t>
            </a:r>
            <a:r>
              <a:rPr lang="he-IL" sz="6000" b="1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להגיש קישור-שיתוף או העתק של השיחה.</a:t>
            </a:r>
            <a:endParaRPr lang="en-US" sz="6000">
              <a:solidFill>
                <a:srgbClr val="081D3F"/>
              </a:solidFill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marL="1314450" lvl="1" indent="-857250" algn="r" rtl="1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he-IL" sz="6000">
                <a:hlinkClick r:id="rId3"/>
              </a:rPr>
              <a:t>תקנון יושר - המחלקה למדעי המחשב</a:t>
            </a:r>
            <a:r>
              <a:rPr lang="he-IL" sz="6000"/>
              <a:t> </a:t>
            </a:r>
            <a:endParaRPr lang="en-IL" sz="6000"/>
          </a:p>
        </p:txBody>
      </p:sp>
      <p:pic>
        <p:nvPicPr>
          <p:cNvPr id="3" name="Google Shape;166;p2" descr="מדיניות פרטיות - מערכת בגרויות אוניברסיטת אריאל">
            <a:extLst>
              <a:ext uri="{FF2B5EF4-FFF2-40B4-BE49-F238E27FC236}">
                <a16:creationId xmlns:a16="http://schemas.microsoft.com/office/drawing/2014/main" id="{3B432E93-2AAD-9F22-9E0B-4CC88901585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8600" y="107143"/>
            <a:ext cx="1676400" cy="92871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037626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5793</TotalTime>
  <Words>512</Words>
  <Application>Microsoft Office PowerPoint</Application>
  <PresentationFormat>Custom</PresentationFormat>
  <Paragraphs>83</Paragraphs>
  <Slides>13</Slides>
  <Notes>12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  <vt:variant>
        <vt:lpstr>Custom Shows</vt:lpstr>
      </vt:variant>
      <vt:variant>
        <vt:i4>1</vt:i4>
      </vt:variant>
    </vt:vector>
  </HeadingPairs>
  <TitlesOfParts>
    <vt:vector size="21" baseType="lpstr">
      <vt:lpstr>Arial</vt:lpstr>
      <vt:lpstr>Wingdings</vt:lpstr>
      <vt:lpstr>Aptos</vt:lpstr>
      <vt:lpstr>Haim</vt:lpstr>
      <vt:lpstr>Calibri</vt:lpstr>
      <vt:lpstr>TT Lakes Neue Expanded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Title of Lecture 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אראל סגל - תכנות אלגוריתמים מחקריים</dc:title>
  <dc:creator>דוד</dc:creator>
  <cp:lastModifiedBy>Erel Segal-Halevi</cp:lastModifiedBy>
  <cp:revision>17</cp:revision>
  <dcterms:created xsi:type="dcterms:W3CDTF">2006-08-16T00:00:00Z</dcterms:created>
  <dcterms:modified xsi:type="dcterms:W3CDTF">2026-03-01T02:43:45Z</dcterms:modified>
  <dc:identifier>DAG3jFQFlbw</dc:identifier>
</cp:coreProperties>
</file>