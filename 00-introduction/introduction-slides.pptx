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</p:sldMasterIdLst>
  <p:notesMasterIdLst>
    <p:notesMasterId r:id="rId17"/>
  </p:notesMasterIdLst>
  <p:sldIdLst>
    <p:sldId id="256" r:id="rId2"/>
    <p:sldId id="274" r:id="rId3"/>
    <p:sldId id="283" r:id="rId4"/>
    <p:sldId id="285" r:id="rId5"/>
    <p:sldId id="281" r:id="rId6"/>
    <p:sldId id="284" r:id="rId7"/>
    <p:sldId id="286" r:id="rId8"/>
    <p:sldId id="288" r:id="rId9"/>
    <p:sldId id="287" r:id="rId10"/>
    <p:sldId id="289" r:id="rId11"/>
    <p:sldId id="290" r:id="rId12"/>
    <p:sldId id="291" r:id="rId13"/>
    <p:sldId id="292" r:id="rId14"/>
    <p:sldId id="294" r:id="rId15"/>
    <p:sldId id="293" r:id="rId16"/>
  </p:sldIdLst>
  <p:sldSz cx="18288000" cy="10287000"/>
  <p:notesSz cx="6858000" cy="9144000"/>
  <p:embeddedFontLst>
    <p:embeddedFont>
      <p:font typeface="Corbel" panose="020B05030202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ec6XkJrYLMqIfmNf7DzA/BRS6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6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6B91BA4-4F87-A55E-9147-74885529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086DC65-8252-D014-D5D3-3A60DDA30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569E4F3-1D24-26E9-21F3-4E0157696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E2BB8B9-7142-741F-41CC-565B538A87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0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8FFDBF4-E57E-A22D-3421-7DAA1767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67B7819-609E-6ACC-349C-079690F86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CAC0681F-5343-541E-8417-F1910CBA0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3F2AEBD-1831-B95C-CBFC-309822FE89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17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0A9D23B-A749-9443-5581-BD9CD07C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3D0FB5B-7E4A-970E-3A39-E48F7B01F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643090A-3083-29E9-F988-443728655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9641CCF3-7E25-B15A-1A3B-9F5EE8617D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23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74E822D-D481-57D3-2FAD-91AE3D30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1C3D9F5D-3724-8BF3-0D66-49CCD386F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5610883-DFF0-C0C6-F161-B01D80085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7665929-1116-E975-F19C-BD8E1BEFF4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1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6BEC93E7-C0AE-1AFF-AB5E-71FE5DF3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5DC89A3F-7BEC-38E7-38BC-E4A51D09C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21EE2EB-5409-D051-D601-76920ACB1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46AB571C-E319-63CB-16C7-56EC52C723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54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9DCF86D-8147-D610-BE0C-4FE48D5A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41D3CFEE-5C9E-9BE0-F904-E6D9DCECA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64CC3EA8-F946-EA51-4EFC-DC25388C9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58E0D36D-7E8B-333E-C50C-DE33DB7318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92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7AB43D9-E913-4E67-89B8-4DD5CEF7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7F50AEFB-55DE-204C-32DC-774899162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F31ADAA-3A61-8CA7-F382-23E212691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A70B5638-A210-1497-BDA7-29B6C8045E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11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3BD9FB6-6F2A-714C-8827-DC56205E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6F7149C-4F65-8A05-B440-B80F76D53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E1E6373-0D5B-8A69-A28E-8309063CB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980271B-94B6-4875-E75C-65C53B6534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84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2F259F4-52B9-CDD4-3FF7-A6CA98B4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936C850E-1822-0F40-01AD-74C9D788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DB92F23A-0512-7DAB-EC79-5D7AA2231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86342AF9-57DC-1E07-A53B-D5FD8FFB4E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90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B9CA07C-6C94-97A2-D36D-1A1DB2DC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A4E58CD6-2418-8C97-7E56-EF8061009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169B85B-B9A4-7275-4541-F984BD1D3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672A579A-9F7A-50FC-64D8-B89D2B79BB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374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A30CB61-47F3-8438-26EE-07BE0413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648A8482-02E6-A758-E8AC-A6FD35718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7B5CD940-C40C-55AC-ECB2-8F1160F83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04901E7-39E3-7C7D-234F-147B915F4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80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387FA1-F6BD-AB4E-7A20-9437D0F3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178E604-973A-A310-DE0D-081EA1DA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3F5EE8D-F6DF-E727-0F3B-60E311360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384E8E88-AC83-20EE-E63D-8F21588B5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44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DE80F06-3E47-79F8-2F5C-2EFC0440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87E0034D-AD8B-6D27-684C-110054B98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1DEE3A57-BE4E-ECF8-9AD5-9028AF772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88E9B45-20E0-C0E9-5A75-22F3237D22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1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2602" y="2070103"/>
            <a:ext cx="12861933" cy="3924299"/>
          </a:xfrm>
        </p:spPr>
        <p:txBody>
          <a:bodyPr anchor="b">
            <a:normAutofit/>
          </a:bodyPr>
          <a:lstStyle>
            <a:lvl1pPr algn="r">
              <a:defRPr sz="9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066" y="5994401"/>
            <a:ext cx="10481468" cy="2082801"/>
          </a:xfrm>
        </p:spPr>
        <p:txBody>
          <a:bodyPr anchor="t">
            <a:normAutofit/>
          </a:bodyPr>
          <a:lstStyle>
            <a:lvl1pPr marL="0" indent="0" algn="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8618" y="8824913"/>
            <a:ext cx="6486066" cy="547688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5615536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27785" y="8800697"/>
            <a:ext cx="826751" cy="547688"/>
          </a:xfrm>
        </p:spPr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1921936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419" y="4000498"/>
            <a:ext cx="13396121" cy="3165573"/>
          </a:xfrm>
        </p:spPr>
        <p:txBody>
          <a:bodyPr anchor="b"/>
          <a:lstStyle>
            <a:lvl1pPr algn="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417" y="7166072"/>
            <a:ext cx="1339612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75894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469" y="4000499"/>
            <a:ext cx="7342583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1951" y="4000500"/>
            <a:ext cx="7342584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8398355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8269" y="3987800"/>
            <a:ext cx="6910782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6467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320731" y="4000500"/>
            <a:ext cx="6933806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11951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9590417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7255204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285000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2400300"/>
            <a:ext cx="5323682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050" y="1028699"/>
            <a:ext cx="9361485" cy="7658102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9" y="4457700"/>
            <a:ext cx="5323682" cy="2743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0149335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6" y="2628899"/>
            <a:ext cx="8139237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92023" y="1371600"/>
            <a:ext cx="4921461" cy="6858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4086" y="4686299"/>
            <a:ext cx="8139237" cy="27432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3469806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7099298"/>
            <a:ext cx="15028067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90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7" y="7949405"/>
            <a:ext cx="15028067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816246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1028700"/>
            <a:ext cx="15028067" cy="457200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9" y="6515100"/>
            <a:ext cx="15028070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13255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55217" y="5143499"/>
            <a:ext cx="12799223" cy="5715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67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24657504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4962872"/>
            <a:ext cx="15028064" cy="2203200"/>
          </a:xfrm>
        </p:spPr>
        <p:txBody>
          <a:bodyPr anchor="b">
            <a:normAutofit/>
          </a:bodyPr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6072"/>
            <a:ext cx="15028065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5054362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70" y="5829300"/>
            <a:ext cx="15028065" cy="13335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2800"/>
            <a:ext cx="15028065" cy="15240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3235103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1028701"/>
            <a:ext cx="15028068" cy="409098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69" y="5257800"/>
            <a:ext cx="1502807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7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2182359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0174833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98983" y="1028700"/>
            <a:ext cx="2655554" cy="7658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6468" y="1028700"/>
            <a:ext cx="12029613" cy="76581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2953396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49439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nk.springer.com/article/10.1007/BF0138639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holar.google.com/scholar?q=%22new+algorithm%22&amp;hl=iw&amp;as_sdt=0%2C5&amp;inst=9485470196299243772&amp;as_ylo=2025&amp;as_yhi=202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facebook.com/" TargetMode="External"/><Relationship Id="rId5" Type="http://schemas.openxmlformats.org/officeDocument/2006/relationships/hyperlink" Target="https://research.ibm.com/" TargetMode="External"/><Relationship Id="rId4" Type="http://schemas.openxmlformats.org/officeDocument/2006/relationships/hyperlink" Target="https://research.googl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facebook.com/" TargetMode="External"/><Relationship Id="rId5" Type="http://schemas.openxmlformats.org/officeDocument/2006/relationships/hyperlink" Target="https://research.ibm.com/" TargetMode="External"/><Relationship Id="rId4" Type="http://schemas.openxmlformats.org/officeDocument/2006/relationships/hyperlink" Target="https://research.googl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holar.google.com/scholar?q=%22new+algorithm%22&amp;hl=iw&amp;as_sdt=0%2C5&amp;inst=9485470196299243772&amp;as_ylo=2024&amp;as_yhi=2024" TargetMode="External"/><Relationship Id="rId4" Type="http://schemas.openxmlformats.org/officeDocument/2006/relationships/hyperlink" Target="https://github.com/erelsgl-at-ariel/research-5785/blob/main/papers.m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riel.ac.il/wp/cs/wp-content/uploads/sites/88/2020/08/Guidelines-for-Academic-Integrity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riel.ac.il/wp/cs/wp-content/uploads/sites/88/2020/08/Guidelines-for-Academic-Integrity.pdf" TargetMode="External"/><Relationship Id="rId5" Type="http://schemas.openxmlformats.org/officeDocument/2006/relationships/hyperlink" Target="https://chatgpt.com/share/67daa5e4-4cbc-8001-b97e-d27c7501e72e" TargetMode="External"/><Relationship Id="rId4" Type="http://schemas.openxmlformats.org/officeDocument/2006/relationships/hyperlink" Target="EnvyFreeMatchingsAndTheirApplications-InformationSciences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2020,%20Narang%20Biswas%20Narahari,%20On%20Achieving%20Fairness%20and%20Stability%20in%20Many-to-One%20Matchings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2021,%20Oh%20Procaccia%20Suksompong,%20Fairly%20allocating%20many%20items%20with%20few%20querires.pdf" TargetMode="External"/><Relationship Id="rId5" Type="http://schemas.openxmlformats.org/officeDocument/2006/relationships/hyperlink" Target="2020,%20Bei%20et%20al,%20Dividing%20a%20graphical%20cake.pdf" TargetMode="External"/><Relationship Id="rId4" Type="http://schemas.openxmlformats.org/officeDocument/2006/relationships/hyperlink" Target="2025,%20Sun%20Yokoo,%20Achieving%20Balanced%20Representation%20in%20School%20Choice%20with%20Diversity%20Goal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3796387" y="428621"/>
            <a:ext cx="10695225" cy="428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ברוכים הבאים</a:t>
            </a:r>
            <a:r>
              <a:rPr lang="he-IL" sz="8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לקורס</a:t>
            </a:r>
            <a:endParaRPr sz="80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1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909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3997127" y="2179611"/>
            <a:ext cx="10494485" cy="592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7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0" b="1">
                <a:solidFill>
                  <a:srgbClr val="00A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תיכנות </a:t>
            </a:r>
            <a:r>
              <a:rPr lang="he-IL" sz="12000" b="1" i="0" u="none" strike="noStrike" cap="none">
                <a:solidFill>
                  <a:srgbClr val="00A0A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מחקריים</a:t>
            </a:r>
            <a:endParaRPr sz="12000" b="1" i="0" u="none" strike="noStrike" cap="none" dirty="0">
              <a:solidFill>
                <a:srgbClr val="00A0A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6635405" y="8532952"/>
            <a:ext cx="5017187" cy="79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7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800" b="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פרופ' אראל סגל-הלוי</a:t>
            </a:r>
            <a:endParaRPr sz="4800" b="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21" name="Google Shape;121;p1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קורסי אלגוריתמים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21B61C03-3DC4-5AD4-A107-9A18E7FFADF4}"/>
              </a:ext>
            </a:extLst>
          </p:cNvPr>
          <p:cNvSpPr txBox="1"/>
          <p:nvPr/>
        </p:nvSpPr>
        <p:spPr>
          <a:xfrm>
            <a:off x="1702422" y="2365746"/>
            <a:ext cx="1632538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1 – כ-50 אלגוריתמים?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2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– כ-100 אלגוריתמים?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48E64C0-D0F5-F0C0-7D41-F8E6AB9B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7EE46CA1-F3CE-F7C1-6E18-025EA9556E80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DE82496-F5CF-57DE-33E9-56000D0546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A88D4015-2CD7-A919-3180-AB1A1118D110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רוב האלגוריתמים שלמדתם התפרסמו לפני-כן במאמר: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המחברים כתבו את האלגוריתם ושלחו לכתב-עת;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עורכי כתב-העת שלחו אותו למומחים לשיפוט; 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המומחים קראו, בדקו ואישרו שהמאמר תקין;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התפרסם בכתב-העת;  [... לאחר זמן ...]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נכנס לספרי-לימוד ולתוכנית הלימודים.</a:t>
            </a:r>
          </a:p>
        </p:txBody>
      </p:sp>
    </p:spTree>
    <p:extLst>
      <p:ext uri="{BB962C8B-B14F-4D97-AF65-F5344CB8AC3E}">
        <p14:creationId xmlns:p14="http://schemas.microsoft.com/office/powerpoint/2010/main" val="31873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AD89A4-26A3-6656-6C90-84F78602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F783BFF-D03A-3BA1-DFAB-8205C66AD24C}"/>
              </a:ext>
            </a:extLst>
          </p:cNvPr>
          <p:cNvSpPr txBox="1"/>
          <p:nvPr/>
        </p:nvSpPr>
        <p:spPr>
          <a:xfrm>
            <a:off x="3735141" y="571500"/>
            <a:ext cx="1257165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 - דוגמה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C46B761B-F875-E0BA-8EE3-1F1B2934F6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3058EF34-1E9F-7E94-47CF-7852481D528D}"/>
              </a:ext>
            </a:extLst>
          </p:cNvPr>
          <p:cNvSpPr txBox="1"/>
          <p:nvPr/>
        </p:nvSpPr>
        <p:spPr>
          <a:xfrm>
            <a:off x="1702422" y="2365746"/>
            <a:ext cx="1632538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חידה: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איזה אלגוריתם פורסם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במאמר הבא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משנת 1959?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322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CA5C4AD-1891-A3F5-2670-8F631FCB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428AF42B-BB57-5B52-4284-14A1A2CA19A8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מחקריים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C789DFCC-7EEB-9A64-64EC-6975A448A6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1C20CBEF-F1B7-53CA-5931-0640DB5C8917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בשנת 2025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התפרסמו מעל 22,000 אלגוריתמים חדשים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בפרסומים מדעיים.</a:t>
            </a:r>
          </a:p>
          <a:p>
            <a:pPr marL="1771650" lvl="2" indent="-857250" algn="r" rtl="1">
              <a:lnSpc>
                <a:spcPct val="140000"/>
              </a:lnSpc>
              <a:buFont typeface="Wingdings" panose="05000000000000000000" pitchFamily="2" charset="2"/>
              <a:buChar char="ß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מעל 60 אלגוריתמים חדשים ליום!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בעיות חדשות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יעיל יותר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לבעיות קיימות.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חלק גדול מהאלגוריתמים כתובים "על הנייר"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בלבד.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020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C36C4C39-A8D1-82B5-B069-7C195294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9AD5B405-BFF9-0354-698B-6E9CB7465AFB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מטרת הקורס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71EE5DB-B323-514A-D7F2-25C2ACDBAE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D2BAC742-E360-702C-4DA0-2F4FDE513CA7}"/>
              </a:ext>
            </a:extLst>
          </p:cNvPr>
          <p:cNvSpPr txBox="1"/>
          <p:nvPr/>
        </p:nvSpPr>
        <p:spPr>
          <a:xfrm>
            <a:off x="1984917" y="2365746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ללמוד לקרוא, להבין,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ולתכנת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המתפרסמים במאמרים מחקריים.</a:t>
            </a:r>
          </a:p>
        </p:txBody>
      </p:sp>
    </p:spTree>
    <p:extLst>
      <p:ext uri="{BB962C8B-B14F-4D97-AF65-F5344CB8AC3E}">
        <p14:creationId xmlns:p14="http://schemas.microsoft.com/office/powerpoint/2010/main" val="20879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A5CF850-E69E-EC98-F272-269DFD0B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BA8C87AF-BD83-2BB9-1D32-F5D6BD943393}"/>
              </a:ext>
            </a:extLst>
          </p:cNvPr>
          <p:cNvSpPr txBox="1"/>
          <p:nvPr/>
        </p:nvSpPr>
        <p:spPr>
          <a:xfrm>
            <a:off x="3735141" y="387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79772B3E-30B6-BA46-9EA8-0599F3C171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BD44369-2964-E7D1-5624-442B4D559E29}"/>
              </a:ext>
            </a:extLst>
          </p:cNvPr>
          <p:cNvSpPr txBox="1"/>
          <p:nvPr/>
        </p:nvSpPr>
        <p:spPr>
          <a:xfrm>
            <a:off x="1940312" y="1795860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הכישרון לתכנת אלגוריתמים מחקריים יעזור לכם אם: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תמשיכו ללמוד לתואר שני ומעלה – לחקור בעצמכם;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תגיעו למשרת מחקר בחברה גדולה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גוגל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יבמ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פייסבוק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...)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127;p2">
            <a:extLst>
              <a:ext uri="{FF2B5EF4-FFF2-40B4-BE49-F238E27FC236}">
                <a16:creationId xmlns:a16="http://schemas.microsoft.com/office/drawing/2014/main" id="{3794199F-BA4B-29BD-D039-6A93C5866795}"/>
              </a:ext>
            </a:extLst>
          </p:cNvPr>
          <p:cNvSpPr txBox="1"/>
          <p:nvPr/>
        </p:nvSpPr>
        <p:spPr>
          <a:xfrm>
            <a:off x="3735141" y="5754691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הכישורים הדרושים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27;p2">
            <a:extLst>
              <a:ext uri="{FF2B5EF4-FFF2-40B4-BE49-F238E27FC236}">
                <a16:creationId xmlns:a16="http://schemas.microsoft.com/office/drawing/2014/main" id="{2EDAAF21-7A6E-5A9A-4F09-D0FD841F6C0E}"/>
              </a:ext>
            </a:extLst>
          </p:cNvPr>
          <p:cNvSpPr txBox="1"/>
          <p:nvPr/>
        </p:nvSpPr>
        <p:spPr>
          <a:xfrm>
            <a:off x="1940312" y="7130177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באלגוריתמים 1+2)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תיכנות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בקורסי התיכנות)</a:t>
            </a:r>
          </a:p>
        </p:txBody>
      </p:sp>
    </p:spTree>
    <p:extLst>
      <p:ext uri="{BB962C8B-B14F-4D97-AF65-F5344CB8AC3E}">
        <p14:creationId xmlns:p14="http://schemas.microsoft.com/office/powerpoint/2010/main" val="203550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A0EE2B4-0316-3113-A926-AC2C80D4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4C824D31-2764-A1F9-E763-48E283F2919C}"/>
              </a:ext>
            </a:extLst>
          </p:cNvPr>
          <p:cNvSpPr txBox="1"/>
          <p:nvPr/>
        </p:nvSpPr>
        <p:spPr>
          <a:xfrm>
            <a:off x="3735141" y="387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13F65C1-B33F-9E6E-C6D4-ACC6D22753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F9A6C2DF-854A-44B5-8B76-D00EF990F369}"/>
              </a:ext>
            </a:extLst>
          </p:cNvPr>
          <p:cNvSpPr txBox="1"/>
          <p:nvPr/>
        </p:nvSpPr>
        <p:spPr>
          <a:xfrm>
            <a:off x="1940312" y="1795860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הכישרון לתכנת אלגוריתמים מחקריים יעזור לכם אם: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תמשיכו ללמוד לתואר שני ומעלה – לחקור בעצמכם;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תגיעו למשרת מחקר בחברה גדולה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גוגל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יבמ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פייסבוק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...)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127;p2">
            <a:extLst>
              <a:ext uri="{FF2B5EF4-FFF2-40B4-BE49-F238E27FC236}">
                <a16:creationId xmlns:a16="http://schemas.microsoft.com/office/drawing/2014/main" id="{5C8FC565-6F2F-6EF3-CB90-77D6BE0F8D56}"/>
              </a:ext>
            </a:extLst>
          </p:cNvPr>
          <p:cNvSpPr txBox="1"/>
          <p:nvPr/>
        </p:nvSpPr>
        <p:spPr>
          <a:xfrm>
            <a:off x="3735141" y="5754691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הכישורים הדרושים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27;p2">
            <a:extLst>
              <a:ext uri="{FF2B5EF4-FFF2-40B4-BE49-F238E27FC236}">
                <a16:creationId xmlns:a16="http://schemas.microsoft.com/office/drawing/2014/main" id="{909DB5F3-4CD2-0A03-788C-1A08EDA02488}"/>
              </a:ext>
            </a:extLst>
          </p:cNvPr>
          <p:cNvSpPr txBox="1"/>
          <p:nvPr/>
        </p:nvSpPr>
        <p:spPr>
          <a:xfrm>
            <a:off x="1940312" y="7130177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באלגוריתמים 1+2)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תיכנות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בקורסי התיכנות)</a:t>
            </a:r>
          </a:p>
        </p:txBody>
      </p:sp>
    </p:spTree>
    <p:extLst>
      <p:ext uri="{BB962C8B-B14F-4D97-AF65-F5344CB8AC3E}">
        <p14:creationId xmlns:p14="http://schemas.microsoft.com/office/powerpoint/2010/main" val="85938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F3FE066-25C2-D624-A114-5F00962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50409AE9-F1C8-33DE-C7ED-DAF0016EF2F2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לא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350EF50-7469-C31F-4199-D892171D47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EBA6B96B-AA92-068A-1CBB-AE55F59CC04C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משרות בתחום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Front End / Back End / Full Stack / 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marR="0" lvl="0" indent="-8572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Web Development /  Game Development…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אלגוריתמים 1+2;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תיכנות;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סמסטר עמוס בקורסים או עבודה במקביל;</a:t>
            </a:r>
          </a:p>
        </p:txBody>
      </p:sp>
    </p:spTree>
    <p:extLst>
      <p:ext uri="{BB962C8B-B14F-4D97-AF65-F5344CB8AC3E}">
        <p14:creationId xmlns:p14="http://schemas.microsoft.com/office/powerpoint/2010/main" val="11931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893CADA2-423E-B900-1615-930FB175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893631CC-5EBF-1ACC-3C49-9129056CFDA6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שלבי העבודה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FC063A06-9A14-87AB-FFB8-212A87E2B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7A99741F-3CA3-0E4F-BE08-43D384BC459A}"/>
              </a:ext>
            </a:extLst>
          </p:cNvPr>
          <p:cNvSpPr txBox="1"/>
          <p:nvPr/>
        </p:nvSpPr>
        <p:spPr>
          <a:xfrm>
            <a:off x="1940312" y="2187327"/>
            <a:ext cx="16042888" cy="568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 בחירת מאמר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(מתוך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רשימה באתר הקורס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או חיפוש נושא שמעניין אתכם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בגוגל סקולר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1. קריאת המאמר, סיכום במילים שלכם, דוגמאות הרצה.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2. מציאת ספריית קוד-פתוח מתאימה, כתיבת כותרות ובדיקות-יחידה.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3. מימוש מלא.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4. שיפור ביצועים, השוואה לאלגוריתם אחר הפותר בעיה דומה.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5. פירסום: בקשת-משיכה +</a:t>
            </a:r>
            <a:r>
              <a:rPr lang="en-US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אתר אינטרנט להדגמה.</a:t>
            </a:r>
          </a:p>
        </p:txBody>
      </p:sp>
    </p:spTree>
    <p:extLst>
      <p:ext uri="{BB962C8B-B14F-4D97-AF65-F5344CB8AC3E}">
        <p14:creationId xmlns:p14="http://schemas.microsoft.com/office/powerpoint/2010/main" val="228837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4898F4-01C0-DC62-2480-EA2F1011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F6FA7A3-3E45-A5A9-BADB-AF5C17EC54FF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ניקוד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6CDA334-E084-47F2-B071-9E4D8CC241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D4CEC57-A7E5-6ED8-222B-8D0B4EF8C3B2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הגשת מטלה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שבועית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בנושא פייתון: 2-3 נקודות.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הגשת מטלה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מתגלגלת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5-10 נקודות. 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55 נקודות על הגשת מטלות.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מטלה בשיעור:  15 נקודות,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עד 3 הצגות. 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45 נקודות על הצגת מטלות.</a:t>
            </a:r>
          </a:p>
        </p:txBody>
      </p:sp>
    </p:spTree>
    <p:extLst>
      <p:ext uri="{BB962C8B-B14F-4D97-AF65-F5344CB8AC3E}">
        <p14:creationId xmlns:p14="http://schemas.microsoft.com/office/powerpoint/2010/main" val="321125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9AEAEFD-BE6E-49C4-F77A-BA712A46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E02E420C-7219-6360-FDA5-503AFA30AF84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חובת נוכחות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1010441-9533-CE28-AECE-2992899D43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0DDD36CD-8C40-5ED6-B6EE-0C7A51892168}"/>
              </a:ext>
            </a:extLst>
          </p:cNvPr>
          <p:cNvSpPr txBox="1"/>
          <p:nvPr/>
        </p:nvSpPr>
        <p:spPr>
          <a:xfrm>
            <a:off x="1940312" y="2187327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יש חובת נוכחות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בכיתה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במקרים הבאים: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מטלות </a:t>
            </a:r>
            <a:r>
              <a:rPr lang="he-IL" sz="4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(פרט למשרתי מילואים)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פתרון לא טוב של אחת המטלות </a:t>
            </a:r>
            <a:r>
              <a:rPr lang="he-IL" sz="36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(ללא שימוש בכלים שנלמדו בשיעור)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he-IL" sz="40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7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0B8F976-00D0-172E-245F-EE31C170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719A07D-7E1D-57C8-665E-26782567914C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D9D2B3-3C20-DBD1-9E32-E95D17C5A9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E10FD80E-768C-0E1B-43BF-3D9CA0F37BCD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במטלות השבועיות (בנושא פייתון) – </a:t>
            </a:r>
            <a:r>
              <a:rPr lang="he-IL" sz="60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אסור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ב"מ, כי המטרה היא לתרגל פייתון.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במטלה המתגלגלת (תיכנות המאמר)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</a:t>
            </a:r>
            <a:r>
              <a:rPr lang="he-IL" sz="60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מותר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ב"מ, אבל: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לבדוק ולהבין את כל התשובות – אתם אחראים!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  <a:endParaRPr lang="en-US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4"/>
              </a:rPr>
              <a:t>תקנון יושר - המחלקה למדעי המחשב</a:t>
            </a:r>
            <a:r>
              <a:rPr lang="he-IL" sz="6000"/>
              <a:t> </a:t>
            </a:r>
            <a:endParaRPr lang="en-IL" sz="6000"/>
          </a:p>
        </p:txBody>
      </p:sp>
    </p:spTree>
    <p:extLst>
      <p:ext uri="{BB962C8B-B14F-4D97-AF65-F5344CB8AC3E}">
        <p14:creationId xmlns:p14="http://schemas.microsoft.com/office/powerpoint/2010/main" val="150376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5D34F34-5737-E55C-E9B0-F81ABB63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32651519-5773-8EDD-C66F-8F67BA97482D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35AA0B-D130-1B92-37F5-F3CD3DF27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73A759A4-726F-905F-89A3-1F982921584C}"/>
              </a:ext>
            </a:extLst>
          </p:cNvPr>
          <p:cNvSpPr txBox="1"/>
          <p:nvPr/>
        </p:nvSpPr>
        <p:spPr>
          <a:xfrm>
            <a:off x="1955552" y="1195414"/>
            <a:ext cx="16042888" cy="930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כלי בינה מלאכותית בימינו </a:t>
            </a: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להבין מאמרים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אבל 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גם לעשות טעויות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שיחה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r>
              <a:rPr lang="he-IL" sz="7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כמתכנתים, </a:t>
            </a:r>
            <a:r>
              <a:rPr lang="he-IL" sz="60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האחריות על הקוד היא עליכם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אתם צריכים לקרוא ולהבין את המאמר בעצמכם, כדי שתוכלו לוודא אם הב"מ עשה עבודה נכונה.</a:t>
            </a:r>
            <a:endParaRPr lang="he-IL" sz="72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6"/>
              </a:rPr>
              <a:t>תקנון יושר - המחלקה למדעי המחשב</a:t>
            </a:r>
            <a:r>
              <a:rPr lang="he-IL" sz="60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247D-7523-0BBD-5F28-6EAF6A1EEBBA}"/>
              </a:ext>
            </a:extLst>
          </p:cNvPr>
          <p:cNvSpPr txBox="1"/>
          <p:nvPr/>
        </p:nvSpPr>
        <p:spPr>
          <a:xfrm>
            <a:off x="5605578" y="9204662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</p:spTree>
    <p:extLst>
      <p:ext uri="{BB962C8B-B14F-4D97-AF65-F5344CB8AC3E}">
        <p14:creationId xmlns:p14="http://schemas.microsoft.com/office/powerpoint/2010/main" val="414062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3252613-B2B9-8724-3318-2EC3EED6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E261A9A-1A2A-B111-9C91-8606A9702FB8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אתגרים בהבנת מאמר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2D9BBE1F-BBEB-63E8-19BC-3CACCC9B43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4E2BD-B132-502B-1DE7-98FAA483994E}"/>
              </a:ext>
            </a:extLst>
          </p:cNvPr>
          <p:cNvSpPr txBox="1"/>
          <p:nvPr/>
        </p:nvSpPr>
        <p:spPr>
          <a:xfrm>
            <a:off x="4605453" y="9271337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  <p:sp>
        <p:nvSpPr>
          <p:cNvPr id="3" name="Google Shape;127;p2">
            <a:extLst>
              <a:ext uri="{FF2B5EF4-FFF2-40B4-BE49-F238E27FC236}">
                <a16:creationId xmlns:a16="http://schemas.microsoft.com/office/drawing/2014/main" id="{8D59347C-4BBB-E507-B7D0-7EA8DA38E932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מושגים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ייחודית;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סימונים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מדוייקת;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שורות-קוד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שצריך אלגוריתם שלם כדי לממש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 אלג.1)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הוכחות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שבתוכן מסתתר אלגוריתם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למה 4.3)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"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בלי הגבלת הכלליות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אלג.2)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שגיאות-כתיב ובאגים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באלגוריתמים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7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אלג.1,2,8; דואל)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72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652</TotalTime>
  <Words>619</Words>
  <Application>Microsoft Office PowerPoint</Application>
  <PresentationFormat>Custom</PresentationFormat>
  <Paragraphs>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Wingdings</vt:lpstr>
      <vt:lpstr>Calibri</vt:lpstr>
      <vt:lpstr>Corbel</vt:lpstr>
      <vt:lpstr>Arial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ruth</dc:creator>
  <cp:lastModifiedBy>דוד אראל סגל הלוי/David Erel Segal Halevi</cp:lastModifiedBy>
  <cp:revision>107</cp:revision>
  <dcterms:created xsi:type="dcterms:W3CDTF">2006-08-16T00:00:00Z</dcterms:created>
  <dcterms:modified xsi:type="dcterms:W3CDTF">2026-02-26T13:56:18Z</dcterms:modified>
</cp:coreProperties>
</file>